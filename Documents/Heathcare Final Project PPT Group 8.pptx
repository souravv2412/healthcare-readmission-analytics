
<file path=[Content_Types].xml>< - xml version="1.0" encoding="UTF-8" standalone="yes" - >
<Types xmlns="http://schemas.openxmlformats.org/package/2006/content-types"><Default Extension="fntdata" ContentType="application/x-fontdata"/><Default Extension="jpeg" ContentType="image/jpeg"/><Default Extension="png" ContentType="image/png"/><Default Extension="rels" ContentType="application/vnd.openxmlformats-package.relationships+xml"/><Default Extension="svg" ContentType="image/svg+xml"/><Default Extension="xml" ContentType="application/xml"/><Override PartName="/ppt/presentation.xml" ContentType="application/vnd.openxmlformats-officedocument.presentationml.presentation.main+xml"/><Override PartName="/ppt/slideMasters/slideMaster1.xml" ContentType="application/vnd.openxmlformats-officedocument.presentationml.slideMaster+xml"/><Override PartName="/ppt/slides/slide1.xml" ContentType="application/vnd.openxmlformats-officedocument.presentationml.slide+xml"/><Override PartName="/ppt/slides/slide2.xml" ContentType="application/vnd.openxmlformats-officedocument.presentationml.slide+xml"/><Override PartName="/ppt/slides/slide3.xml" ContentType="application/vnd.openxmlformats-officedocument.presentationml.slide+xml"/><Override PartName="/ppt/slides/slide4.xml" ContentType="application/vnd.openxmlformats-officedocument.presentationml.slide+xml"/><Override PartName="/ppt/slides/slide5.xml" ContentType="application/vnd.openxmlformats-officedocument.presentationml.slide+xml"/><Override PartName="/ppt/slides/slide6.xml" ContentType="application/vnd.openxmlformats-officedocument.presentationml.slide+xml"/><Override PartName="/ppt/slides/slide7.xml" ContentType="application/vnd.openxmlformats-officedocument.presentationml.slide+xml"/><Override PartName="/ppt/slides/slide8.xml" ContentType="application/vnd.openxmlformats-officedocument.presentationml.slide+xml"/><Override PartName="/ppt/slides/slide9.xml" ContentType="application/vnd.openxmlformats-officedocument.presentationml.slide+xml"/><Override PartName="/ppt/slides/slide10.xml" ContentType="application/vnd.openxmlformats-officedocument.presentationml.slide+xml"/><Override PartName="/ppt/slides/slide11.xml" ContentType="application/vnd.openxmlformats-officedocument.presentationml.slide+xml"/><Override PartName="/ppt/slides/slide12.xml" ContentType="application/vnd.openxmlformats-officedocument.presentationml.slide+xml"/><Override PartName="/ppt/slides/slide13.xml" ContentType="application/vnd.openxmlformats-officedocument.presentationml.slide+xml"/><Override PartName="/ppt/slides/slide14.xml" ContentType="application/vnd.openxmlformats-officedocument.presentationml.slide+xml"/><Override PartName="/ppt/slides/slide15.xml" ContentType="application/vnd.openxmlformats-officedocument.presentationml.slide+xml"/><Override PartName="/ppt/slides/slide16.xml" ContentType="application/vnd.openxmlformats-officedocument.presentationml.slide+xml"/><Override PartName="/ppt/slides/slide17.xml" ContentType="application/vnd.openxmlformats-officedocument.presentationml.slide+xml"/><Override PartName="/ppt/slides/slide18.xml" ContentType="application/vnd.openxmlformats-officedocument.presentationml.slide+xml"/><Override PartName="/ppt/slides/slide19.xml" ContentType="application/vnd.openxmlformats-officedocument.presentationml.slide+xml"/><Override PartName="/ppt/notesMasters/notesMaster1.xml" ContentType="application/vnd.openxmlformats-officedocument.presentationml.notesMaster+xml"/><Override PartName="/ppt/presProps.xml" ContentType="application/vnd.openxmlformats-officedocument.presentationml.presProps+xml"/><Override PartName="/ppt/viewProps.xml" ContentType="application/vnd.openxmlformats-officedocument.presentationml.viewProps+xml"/><Override PartName="/ppt/theme/theme1.xml" ContentType="application/vnd.openxmlformats-officedocument.theme+xml"/><Override PartName="/ppt/tableStyles.xml" ContentType="application/vnd.openxmlformats-officedocument.presentationml.tableStyles+xml"/><Override PartName="/ppt/slideLayouts/slideLayout1.xml" ContentType="application/vnd.openxmlformats-officedocument.presentationml.slideLayout+xml"/><Override PartName="/ppt/slideLayouts/slideLayout2.xml" ContentType="application/vnd.openxmlformats-officedocument.presentationml.slideLayout+xml"/><Override PartName="/ppt/slideLayouts/slideLayout3.xml" ContentType="application/vnd.openxmlformats-officedocument.presentationml.slideLayout+xml"/><Override PartName="/ppt/slideLayouts/slideLayout4.xml" ContentType="application/vnd.openxmlformats-officedocument.presentationml.slideLayout+xml"/><Override PartName="/ppt/slideLayouts/slideLayout5.xml" ContentType="application/vnd.openxmlformats-officedocument.presentationml.slideLayout+xml"/><Override PartName="/ppt/slideLayouts/slideLayout6.xml" ContentType="application/vnd.openxmlformats-officedocument.presentationml.slideLayout+xml"/><Override PartName="/ppt/slideLayouts/slideLayout7.xml" ContentType="application/vnd.openxmlformats-officedocument.presentationml.slideLayout+xml"/><Override PartName="/ppt/slideLayouts/slideLayout8.xml" ContentType="application/vnd.openxmlformats-officedocument.presentationml.slideLayout+xml"/><Override PartName="/ppt/slideLayouts/slideLayout9.xml" ContentType="application/vnd.openxmlformats-officedocument.presentationml.slideLayout+xml"/><Override PartName="/ppt/slideLayouts/slideLayout10.xml" ContentType="application/vnd.openxmlformats-officedocument.presentationml.slideLayout+xml"/><Override PartName="/ppt/slideLayouts/slideLayout11.xml" ContentType="application/vnd.openxmlformats-officedocument.presentationml.slideLayout+xml"/><Override PartName="/ppt/slideLayouts/slideLayout12.xml" ContentType="application/vnd.openxmlformats-officedocument.presentationml.slideLayout+xml"/><Override PartName="/ppt/slideLayouts/slideLayout13.xml" ContentType="application/vnd.openxmlformats-officedocument.presentationml.slideLayout+xml"/><Override PartName="/ppt/slideLayouts/slideLayout14.xml" ContentType="application/vnd.openxmlformats-officedocument.presentationml.slideLayout+xml"/><Override PartName="/ppt/slideLayouts/slideLayout15.xml" ContentType="application/vnd.openxmlformats-officedocument.presentationml.slideLayout+xml"/><Override PartName="/ppt/slideLayouts/slideLayout16.xml" ContentType="application/vnd.openxmlformats-officedocument.presentationml.slideLayout+xml"/><Override PartName="/ppt/slideLayouts/slideLayout17.xml" ContentType="application/vnd.openxmlformats-officedocument.presentationml.slideLayout+xml"/><Override PartName="/ppt/slideLayouts/slideLayout18.xml" ContentType="application/vnd.openxmlformats-officedocument.presentationml.slideLayout+xml"/><Override PartName="/ppt/slideLayouts/slideLayout19.xml" ContentType="application/vnd.openxmlformats-officedocument.presentationml.slideLayout+xml"/><Override PartName="/ppt/theme/theme2.xml" ContentType="application/vnd.openxmlformats-officedocument.theme+xml"/><Override PartName="/ppt/notesSlides/notesSlide1.xml" ContentType="application/vnd.openxmlformats-officedocument.presentationml.notesSlide+xml"/><Override PartName="/ppt/notesSlides/notesSlide2.xml" ContentType="application/vnd.openxmlformats-officedocument.presentationml.notesSlide+xml"/><Override PartName="/ppt/notesSlides/notesSlide3.xml" ContentType="application/vnd.openxmlformats-officedocument.presentationml.notesSlide+xml"/><Override PartName="/ppt/notesSlides/notesSlide4.xml" ContentType="application/vnd.openxmlformats-officedocument.presentationml.notesSlide+xml"/><Override PartName="/ppt/notesSlides/notesSlide5.xml" ContentType="application/vnd.openxmlformats-officedocument.presentationml.notesSlide+xml"/><Override PartName="/ppt/notesSlides/notesSlide6.xml" ContentType="application/vnd.openxmlformats-officedocument.presentationml.notesSlide+xml"/><Override PartName="/ppt/notesSlides/notesSlide7.xml" ContentType="application/vnd.openxmlformats-officedocument.presentationml.notesSlide+xml"/><Override PartName="/ppt/notesSlides/notesSlide8.xml" ContentType="application/vnd.openxmlformats-officedocument.presentationml.notesSlide+xml"/><Override PartName="/ppt/notesSlides/notesSlide9.xml" ContentType="application/vnd.openxmlformats-officedocument.presentationml.notesSlide+xml"/><Override PartName="/ppt/notesSlides/notesSlide10.xml" ContentType="application/vnd.openxmlformats-officedocument.presentationml.notesSlide+xml"/><Override PartName="/ppt/notesSlides/notesSlide11.xml" ContentType="application/vnd.openxmlformats-officedocument.presentationml.notesSlide+xml"/><Override PartName="/ppt/notesSlides/notesSlide12.xml" ContentType="application/vnd.openxmlformats-officedocument.presentationml.notesSlide+xml"/><Override PartName="/ppt/notesSlides/notesSlide13.xml" ContentType="application/vnd.openxmlformats-officedocument.presentationml.notesSlide+xml"/><Override PartName="/ppt/notesSlides/notesSlide14.xml" ContentType="application/vnd.openxmlformats-officedocument.presentationml.notesSlide+xml"/><Override PartName="/ppt/notesSlides/notesSlide15.xml" ContentType="application/vnd.openxmlformats-officedocument.presentationml.notesSlide+xml"/><Override PartName="/ppt/notesSlides/notesSlide16.xml" ContentType="application/vnd.openxmlformats-officedocument.presentationml.notesSlide+xml"/><Override PartName="/ppt/notesSlides/notesSlide17.xml" ContentType="application/vnd.openxmlformats-officedocument.presentationml.notesSlide+xml"/><Override PartName="/ppt/notesSlides/notesSlide18.xml" ContentType="application/vnd.openxmlformats-officedocument.presentationml.notesSlide+xml"/><Override PartName="/docProps/core.xml" ContentType="application/vnd.openxmlformats-package.core-properties+xml"/><Override PartName="/docProps/app.xml" ContentType="application/vnd.openxmlformats-officedocument.extended-properties+xml"/>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 - xml version="1.0" encoding="UTF-8" standalone="yes" - >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<p:sldMasterIdLst><p:sldMasterId id="2147483648" r:id="rId1"/></p:sldMasterIdLst><p:notesMasterIdLst><p:notesMasterId r:id="rId21"/></p:notesMasterIdLst><p:sldIdLst><p:sldId id="256" r:id="rId2"/><p:sldId id="257" r:id="rId3"/><p:sldId id="258" r:id="rId4"/><p:sldId id="259" r:id="rId5"/><p:sldId id="260" r:id="rId6"/><p:sldId id="261" r:id="rId7"/><p:sldId id="262" r:id="rId8"/><p:sldId id="263" r:id="rId9"/><p:sldId id="264" r:id="rId10"/><p:sldId id="265" r:id="rId11"/><p:sldId id="266" r:id="rId12"/><p:sldId id="267" r:id="rId13"/><p:sldId id="268" r:id="rId14"/><p:sldId id="269" r:id="rId15"/><p:sldId id="270" r:id="rId16"/><p:sldId id="271" r:id="rId17"/><p:sldId id="272" r:id="rId18"/><p:sldId id="273" r:id="rId19"/><p:sldId id="274" r:id="rId20"/></p:sldIdLst><p:sldSz cx="14630400" cy="8229600"/><p:notesSz cx="8229600" cy="14630400"/><p:embeddedFontLst><p:embeddedFont><p:font typeface="Consolas" panose="020B0609020204030204" pitchFamily="49" charset="0"/><p:regular r:id="rId22"/><p:bold r:id="rId23"/><p:italic r:id="rId24"/><p:boldItalic r:id="rId25"/></p:embeddedFont><p:embeddedFont><p:font typeface="Open Sans" panose="020B0606030504020204" pitchFamily="34" charset="0"/><p:regular r:id="rId26"/><p:bold r:id="rId27"/></p:embeddedFont><p:embeddedFont><p:font typeface="Roboto" panose="02000000000000000000" pitchFamily="2" charset="0"/><p:regular r:id="rId28"/><p:bold r:id="rId29"/><p:italic r:id="rId30"/><p:boldItalic r:id="rId31"/></p:embeddedFont><p:embeddedFont><p:font typeface="Roboto Light" panose="02000000000000000000" pitchFamily="2" charset="0"/><p:regular r:id="rId32"/><p:italic r:id="rId33"/></p:embeddedFont></p:embeddedFontLst><p:defaultTextStyle><a:defPPr><a:defRPr lang="en-US"/></a:defPPr><a:lvl1pPr marL="0" algn="l" defTabSz="914400" rtl="0" eaLnBrk="1" latinLnBrk="0" hangingPunct="1"><a:defRPr sz="1800" kern="1200"><a:solidFill><a:schemeClr val="tx1"/></a:solidFill><a:latin typeface="+mn-lt"/><a:ea typeface="+mn-ea"/><a:cs typeface="+mn-cs"/></a:defRPr></a:lvl1pPr><a:lvl2pPr marL="457200" algn="l" defTabSz="914400" rtl="0" eaLnBrk="1" latinLnBrk="0" hangingPunct="1"><a:defRPr sz="1800" kern="1200"><a:solidFill><a:schemeClr val="tx1"/></a:solidFill><a:latin typeface="+mn-lt"/><a:ea typeface="+mn-ea"/><a:cs typeface="+mn-cs"/></a:defRPr></a:lvl2pPr><a:lvl3pPr marL="914400" algn="l" defTabSz="914400" rtl="0" eaLnBrk="1" latinLnBrk="0" hangingPunct="1"><a:defRPr sz="1800" kern="1200"><a:solidFill><a:schemeClr val="tx1"/></a:solidFill><a:latin typeface="+mn-lt"/><a:ea typeface="+mn-ea"/><a:cs typeface="+mn-cs"/></a:defRPr></a:lvl3pPr><a:lvl4pPr marL="1371600" algn="l" defTabSz="914400" rtl="0" eaLnBrk="1" latinLnBrk="0" hangingPunct="1"><a:defRPr sz="1800" kern="1200"><a:solidFill><a:schemeClr val="tx1"/></a:solidFill><a:latin typeface="+mn-lt"/><a:ea typeface="+mn-ea"/><a:cs typeface="+mn-cs"/></a:defRPr></a:lvl4pPr><a:lvl5pPr marL="1828800" algn="l" defTabSz="914400" rtl="0" eaLnBrk="1" latinLnBrk="0" hangingPunct="1"><a:defRPr sz="1800" kern="1200"><a:solidFill><a:schemeClr val="tx1"/></a:solidFill><a:latin typeface="+mn-lt"/><a:ea typeface="+mn-ea"/><a:cs typeface="+mn-cs"/></a:defRPr></a:lvl5pPr><a:lvl6pPr marL="2286000" algn="l" defTabSz="914400" rtl="0" eaLnBrk="1" latinLnBrk="0" hangingPunct="1"><a:defRPr sz="1800" kern="1200"><a:solidFill><a:schemeClr val="tx1"/></a:solidFill><a:latin typeface="+mn-lt"/><a:ea typeface="+mn-ea"/><a:cs typeface="+mn-cs"/></a:defRPr></a:lvl6pPr><a:lvl7pPr marL="2743200" algn="l" defTabSz="914400" rtl="0" eaLnBrk="1" latinLnBrk="0" hangingPunct="1"><a:defRPr sz="1800" kern="1200"><a:solidFill><a:schemeClr val="tx1"/></a:solidFill><a:latin typeface="+mn-lt"/><a:ea typeface="+mn-ea"/><a:cs typeface="+mn-cs"/></a:defRPr></a:lvl7pPr><a:lvl8pPr marL="3200400" algn="l" defTabSz="914400" rtl="0" eaLnBrk="1" latinLnBrk="0" hangingPunct="1"><a:defRPr sz="1800" kern="1200"><a:solidFill><a:schemeClr val="tx1"/></a:solidFill><a:latin typeface="+mn-lt"/><a:ea typeface="+mn-ea"/><a:cs typeface="+mn-cs"/></a:defRPr></a:lvl8pPr><a:lvl9pPr marL="3657600" algn="l" defTabSz="914400" rtl="0" eaLnBrk="1" latinLnBrk="0" hangingPunct="1"><a:defRPr sz="1800" kern="1200"><a:solidFill><a:schemeClr val="tx1"/></a:solidFill><a:latin typeface="+mn-lt"/><a:ea typeface="+mn-ea"/><a:cs typeface="+mn-cs"/></a:defRPr></a:lvl9pPr></p:defaultTextStyle><p:extLst><p:ext uri="{EFAFB233-063F-42B5-8137-9DF3F51BA10A}"><p15:sldGuideLst xmlns:p15="http://schemas.microsoft.com/office/powerpoint/2012/main"/></p:ext></p:extLst></p:presentation>
</file>

<file path=ppt/presProps.xml>< - xml version="1.0" encoding="UTF-8" standalone="yes" - >
<p:presentationPr xmlns:a="http://schemas.openxmlformats.org/drawingml/2006/main" xmlns:r="http://schemas.openxmlformats.org/officeDocument/2006/relationships" xmlns:p="http://schemas.openxmlformats.org/presentationml/2006/main"><p:showPr showNarration="1"><p:present/><p:sldAll/><p:penClr><a:prstClr val="red"/></p:penClr><p:extLst><p:ext uri="{EC167BDD-8182-4AB7-AECC-EB403E3ABB37}"><p14:laserClr xmlns:p14="http://schemas.microsoft.com/office/powerpoint/2010/main"><a:srgbClr val="FF0000"/></p14:laserClr></p:ext><p:ext uri="{2FDB2607-1784-4EEB-B798-7EB5836EED8A}"><p14:showMediaCtrls xmlns:p14="http://schemas.microsoft.com/office/powerpoint/2010/main" val="1"/></p:ext></p:extLst></p:showPr><p:extLst><p:ext uri="{E76CE94A-603C-4142-B9EB-6D1370010A27}"><p14:discardImageEditData xmlns:p14="http://schemas.microsoft.com/office/powerpoint/2010/main" val="0"/></p:ext><p:ext uri="{D31A062A-798A-4329-ABDD-BBA856620510}"><p14:defaultImageDpi xmlns:p14="http://schemas.microsoft.com/office/powerpoint/2010/main" val="220"/></p:ext><p:ext uri="{FD5EFAAD-0ECE-453E-9831-46B23BE46B34}"><p15:chartTrackingRefBased xmlns:p15="http://schemas.microsoft.com/office/powerpoint/2012/main" val="0"/></p:ext></p:extLst></p:presentationPr>
</file>

<file path=ppt/tableStyles.xml>< - xml version="1.0" encoding="UTF-8" standalone="yes" - >
<a:tblStyleLst xmlns:a="http://schemas.openxmlformats.org/drawingml/2006/main" def="{5C22544A-7EE6-4342-B048-85BDC9FD1C3A}"/>
</file>

<file path=ppt/viewProps.xml>< - xml version="1.0" encoding="UTF-8" standalone="yes" - >
<p:viewPr xmlns:a="http://schemas.openxmlformats.org/drawingml/2006/main" xmlns:r="http://schemas.openxmlformats.org/officeDocument/2006/relationships" xmlns:p="http://schemas.openxmlformats.org/presentationml/2006/main"><p:normalViewPr horzBarState="maximized"><p:restoredLeft sz="15611"/><p:restoredTop sz="94610"/></p:normalViewPr><p:slideViewPr><p:cSldViewPr snapToGrid="0" snapToObjects="1"><p:cViewPr varScale="1"><p:scale><a:sx n="63" d="100"/><a:sy n="63" d="100"/></p:scale><p:origin x="516" y="66"/></p:cViewPr><p:guideLst/></p:cSldViewPr></p:slideViewPr><p:notesTextViewPr><p:cViewPr><p:scale><a:sx n="1" d="1"/><a:sy n="1" d="1"/></p:scale><p:origin x="0" y="0"/></p:cViewPr></p:notesTextViewPr><p:gridSpacing cx="76200" cy="76200"/>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 - xml version="1.0" encoding="UTF-8" standalone="yes" - >
<p:notesMaster xmlns:a="http://schemas.openxmlformats.org/drawingml/2006/main" xmlns:r="http://schemas.openxmlformats.org/officeDocument/2006/relationships" xmlns:p="http://schemas.openxmlformats.org/presentationml/2006/main"><p:cSld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/p:spTree><p:extLst><p:ext uri="{BB962C8B-B14F-4D97-AF65-F5344CB8AC3E}"><p14:creationId xmlns:p14="http://schemas.microsoft.com/office/powerpoint/2010/main" val="1976740665"/></p:ext></p:extLst></p:cSld><p:clrMap bg1="lt1" tx1="dk1" bg2="lt2" tx2="dk2" accent1="accent1" accent2="accent2" accent3="accent3" accent4="accent4" accent5="accent5" accent6="accent6" hlink="hlink" folHlink="folHlink"/><p:notesStyle><a:lvl1pPr marL="0" algn="l" defTabSz="914400" rtl="0" eaLnBrk="1" latinLnBrk="0" hangingPunct="1"><a:defRPr sz="1200" kern="1200"><a:solidFill><a:schemeClr val="tx1"/></a:solidFill><a:latin typeface="+mn-lt"/><a:ea typeface="+mn-ea"/><a:cs typeface="+mn-cs"/></a:defRPr></a:lvl1pPr><a:lvl2pPr marL="457200" algn="l" defTabSz="914400" rtl="0" eaLnBrk="1" latinLnBrk="0" hangingPunct="1"><a:defRPr sz="1200" kern="1200"><a:solidFill><a:schemeClr val="tx1"/></a:solidFill><a:latin typeface="+mn-lt"/><a:ea typeface="+mn-ea"/><a:cs typeface="+mn-cs"/></a:defRPr></a:lvl2pPr><a:lvl3pPr marL="914400" algn="l" defTabSz="914400" rtl="0" eaLnBrk="1" latinLnBrk="0" hangingPunct="1"><a:defRPr sz="1200" kern="1200"><a:solidFill><a:schemeClr val="tx1"/></a:solidFill><a:latin typeface="+mn-lt"/><a:ea typeface="+mn-ea"/><a:cs typeface="+mn-cs"/></a:defRPr></a:lvl3pPr><a:lvl4pPr marL="1371600" algn="l" defTabSz="914400" rtl="0" eaLnBrk="1" latinLnBrk="0" hangingPunct="1"><a:defRPr sz="1200" kern="1200"><a:solidFill><a:schemeClr val="tx1"/></a:solidFill><a:latin typeface="+mn-lt"/><a:ea typeface="+mn-ea"/><a:cs typeface="+mn-cs"/></a:defRPr></a:lvl4pPr><a:lvl5pPr marL="1828800" algn="l" defTabSz="914400" rtl="0" eaLnBrk="1" latinLnBrk="0" hangingPunct="1"><a:defRPr sz="1200" kern="1200"><a:solidFill><a:schemeClr val="tx1"/></a:solidFill><a:latin typeface="+mn-lt"/><a:ea typeface="+mn-ea"/><a:cs typeface="+mn-cs"/></a:defRPr></a:lvl5pPr><a:lvl6pPr marL="2286000" algn="l" defTabSz="914400" rtl="0" eaLnBrk="1" latinLnBrk="0" hangingPunct="1"><a:defRPr sz="1200" kern="1200"><a:solidFill><a:schemeClr val="tx1"/></a:solidFill><a:latin typeface="+mn-lt"/><a:ea typeface="+mn-ea"/><a:cs typeface="+mn-cs"/></a:defRPr></a:lvl6pPr><a:lvl7pPr marL="2743200" algn="l" defTabSz="914400" rtl="0" eaLnBrk="1" latinLnBrk="0" hangingPunct="1"><a:defRPr sz="1200" kern="1200"><a:solidFill><a:schemeClr val="tx1"/></a:solidFill><a:latin typeface="+mn-lt"/><a:ea typeface="+mn-ea"/><a:cs typeface="+mn-cs"/></a:defRPr></a:lvl7pPr><a:lvl8pPr marL="3200400" algn="l" defTabSz="914400" rtl="0" eaLnBrk="1" latinLnBrk="0" hangingPunct="1"><a:defRPr sz="1200" kern="1200"><a:solidFill><a:schemeClr val="tx1"/></a:solidFill><a:latin typeface="+mn-lt"/><a:ea typeface="+mn-ea"/><a:cs typeface="+mn-cs"/></a:defRPr></a:lvl8pPr><a:lvl9pPr marL="3657600" algn="l" defTabSz="914400" rtl="0" eaLnBrk="1" latinLnBrk="0" hangingPunct="1"><a:defRPr sz="1200" kern="1200"><a:solidFill><a:schemeClr val="tx1"/></a:solidFill><a:latin typeface="+mn-lt"/><a:ea typeface="+mn-ea"/><a:cs typeface="+mn-cs"/></a:defRPr></a:lvl9pPr></p:notesStyle>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2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2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3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3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4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4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5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5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6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6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7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7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8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8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9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9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0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10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1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11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2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12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3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13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4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14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5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15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6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16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7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17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notesSlides/notesSlide18.xml>< - xml version="1.0" encoding="UTF-8" standalone="yes" - >
<p:notes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sp><p:nvSpPr><p:cNvPr id="2" name="Slide Image Placeholder 1"/><p:cNvSpPr><a:spLocks noGrp="1" noRot="1" noChangeAspect="1"/></p:cNvSpPr><p:nvPr><p:ph type="sldImg"/></p:nvPr></p:nvSpPr><p:spPr/></p:sp><p:sp><p:nvSpPr><p:cNvPr id="3" name="Notes Placeholder 2"/><p:cNvSpPr><a:spLocks noGrp="1"/></p:cNvSpPr><p:nvPr><p:ph type="body" idx="1"/></p:nvPr></p:nvSpPr><p:spPr/><p:txBody><a:bodyPr/><a:lstStyle/><a:p><a:endParaRPr lang="en-US" dirty="0"/></a:p></p:txBody></p:sp><p:sp><p:nvSpPr><p:cNvPr id="4" name="Slide Number Placeholder 3"/><p:cNvSpPr><a:spLocks noGrp="1"/></p:cNvSpPr><p:nvPr><p:ph type="sldNum" sz="quarter" idx="10"/></p:nvPr></p:nvSpPr><p:spPr/><p:txBody><a:bodyPr/><a:lstStyle/><a:p><a:fld id="{F7021451-1387-4CA6-816F-3879F97B5CBC}" type="slidenum"><a:rPr lang="en-US"/><a:t>18</a:t></a:fld><a:endParaRPr lang="en-US"/></a:p></p:txBody></p:sp></p:spTree><p:extLst><p:ext uri="{BB962C8B-B14F-4D97-AF65-F5344CB8AC3E}"><p14:creationId xmlns:p14="http://schemas.microsoft.com/office/powerpoint/2010/main" val="1024086991"/></p:ext></p:extLst></p:cSld><p:clrMapOvr><a:masterClrMapping/></p:clrMapOvr>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DEFAULT"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/p:spTree></p:cSld><p:clrMapOvr><a:masterClrMapping/></p:clrMapOvr></p:sldLayout>
</file>

<file path=ppt/slideLayouts/slideLayout2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3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2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4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3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5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4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6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5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7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6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8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7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9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8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0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9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1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0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2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1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3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2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4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3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5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4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6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5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7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6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8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7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Layouts/slideLayout19.xml>< - xml version="1.0" encoding="UTF-8" standalone="yes" - >
<p:sldLayout xmlns:a="http://schemas.openxmlformats.org/drawingml/2006/main" xmlns:r="http://schemas.openxmlformats.org/officeDocument/2006/relationships" xmlns:p="http://schemas.openxmlformats.org/presentationml/2006/main" preserve="1"><p:cSld name="Slide 18 master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0" y="0"/><a:ext cx="14630400" cy="8229600"/></a:xfrm><a:prstGeom prst="rect"><a:avLst/></a:prstGeom><a:solidFill><a:srgbClr val="F7EDE9"/></a:solidFill><a:ln/></p:spPr><p:txBody><a:bodyPr/><a:lstStyle/><a:p><a:endParaRPr lang="en-IN"/></a:p></p:txBody></p:sp><p:sp><p:nvSpPr><p:cNvPr id="3" name="Shape 1"/><p:cNvSpPr/><p:nvPr/></p:nvSpPr><p:spPr><a:xfrm><a:off x="0" y="0"/><a:ext cx="14630400" cy="8229600"/></a:xfrm><a:prstGeom prst="rect"><a:avLst/></a:prstGeom><a:solidFill><a:srgbClr val="FFFCFA"/></a:solidFill><a:ln/></p:spPr><p:txBody><a:bodyPr/><a:lstStyle/><a:p><a:endParaRPr lang="en-IN"/></a:p></p:txBody></p:sp></p:spTree></p:cSld><p:clrMapOvr><a:masterClrMapping/></p:clrMapOvr>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 - xml version="1.0" encoding="UTF-8" standalone="yes" - >
<p:sldMaster xmlns:a="http://schemas.openxmlformats.org/drawingml/2006/main" xmlns:r="http://schemas.openxmlformats.org/officeDocument/2006/relationships" xmlns:p="http://schemas.openxmlformats.org/presentationml/2006/main"><p:cSld><p:bg><p:bgRef idx="1001"><a:schemeClr val="bg1"/></p:bgRef></p:bg><p:spTree><p:nvGrpSpPr><p:cNvPr id="1" name=""/><p:cNvGrpSpPr/><p:nvPr/></p:nvGrpSpPr><p:grpSpPr><a:xfrm><a:off x="0" y="0"/><a:ext cx="0" cy="0"/><a:chOff x="0" y="0"/><a:chExt cx="0" cy="0"/></a:xfrm></p:grpSpPr></p:spTree></p:cSld><p:clrMap bg1="lt1" tx1="dk1" bg2="lt2" tx2="dk2" accent1="accent1" accent2="accent2" accent3="accent3" accent4="accent4" accent5="accent5" accent6="accent6" hlink="hlink" folHlink="folHlink"/><p:sldLayoutIdLst><p:sldLayoutId id="2147483649" r:id="rId1"/><p:sldLayoutId id="2147483650" r:id="rId2"/><p:sldLayoutId id="2147483651" r:id="rId3"/><p:sldLayoutId id="2147483652" r:id="rId4"/><p:sldLayoutId id="2147483653" r:id="rId5"/><p:sldLayoutId id="2147483654" r:id="rId6"/><p:sldLayoutId id="2147483655" r:id="rId7"/><p:sldLayoutId id="2147483656" r:id="rId8"/><p:sldLayoutId id="2147483657" r:id="rId9"/><p:sldLayoutId id="2147483658" r:id="rId10"/><p:sldLayoutId id="2147483659" r:id="rId11"/><p:sldLayoutId id="2147483660" r:id="rId12"/><p:sldLayoutId id="2147483661" r:id="rId13"/><p:sldLayoutId id="2147483662" r:id="rId14"/><p:sldLayoutId id="2147483663" r:id="rId15"/><p:sldLayoutId id="2147483664" r:id="rId16"/><p:sldLayoutId id="2147483665" r:id="rId17"/><p:sldLayoutId id="2147483666" r:id="rId18"/><p:sldLayoutId id="2147483667" r:id="rId19"/></p:sldLayoutIdLst><p:hf sldNum="0" hdr="0" ftr="0" dt="0"/><p:txStyles><p:titleStyle><a:lvl1pPr algn="ctr" defTabSz="914400" rtl="0" eaLnBrk="1" latinLnBrk="0" hangingPunct="1"><a:spcBef><a:spcPct val="0"/></a:spcBef><a:buNone/><a:defRPr sz="4400" kern="1200"><a:solidFill><a:schemeClr val="tx1"/></a:solidFill><a:latin typeface="+mj-lt"/><a:ea typeface="+mj-ea"/><a:cs typeface="+mj-cs"/></a:defRPr></a:lvl1pPr></p:titleStyle><p:bodyStyle><a:lvl1pPr marL="342900" indent="-342900" algn="l" defTabSz="914400" rtl="0" eaLnBrk="1" latinLnBrk="0" hangingPunct="1"><a:spcBef><a:spcPct val="20000"/></a:spcBef><a:buFont typeface="Arial" pitchFamily="34" charset="0"/><a:buChar char="•"/><a:defRPr sz="3200" kern="1200"><a:solidFill><a:schemeClr val="tx1"/></a:solidFill><a:latin typeface="+mn-lt"/><a:ea typeface="+mn-ea"/><a:cs typeface="+mn-cs"/></a:defRPr></a:lvl1pPr><a:lvl2pPr marL="742950" indent="-285750" algn="l" defTabSz="914400" rtl="0" eaLnBrk="1" latinLnBrk="0" hangingPunct="1"><a:spcBef><a:spcPct val="20000"/></a:spcBef><a:buFont typeface="Arial" pitchFamily="34" charset="0"/><a:buChar char="–"/><a:defRPr sz="2800" kern="1200"><a:solidFill><a:schemeClr val="tx1"/></a:solidFill><a:latin typeface="+mn-lt"/><a:ea typeface="+mn-ea"/><a:cs typeface="+mn-cs"/></a:defRPr></a:lvl2pPr><a:lvl3pPr marL="1143000" indent="-228600" algn="l" defTabSz="914400" rtl="0" eaLnBrk="1" latinLnBrk="0" hangingPunct="1"><a:spcBef><a:spcPct val="20000"/></a:spcBef><a:buFont typeface="Arial" pitchFamily="34" charset="0"/><a:buChar char="•"/><a:defRPr sz="2400" kern="1200"><a:solidFill><a:schemeClr val="tx1"/></a:solidFill><a:latin typeface="+mn-lt"/><a:ea typeface="+mn-ea"/><a:cs typeface="+mn-cs"/></a:defRPr></a:lvl3pPr><a:lvl4pPr marL="1600200" indent="-228600" algn="l" defTabSz="914400" rtl="0" eaLnBrk="1" latinLnBrk="0" hangingPunct="1"><a:spcBef><a:spcPct val="20000"/></a:spcBef><a:buFont typeface="Arial" pitchFamily="34" charset="0"/><a:buChar char="–"/><a:defRPr sz="2000" kern="1200"><a:solidFill><a:schemeClr val="tx1"/></a:solidFill><a:latin typeface="+mn-lt"/><a:ea typeface="+mn-ea"/><a:cs typeface="+mn-cs"/></a:defRPr></a:lvl4pPr><a:lvl5pPr marL="2057400" indent="-228600" algn="l" defTabSz="914400" rtl="0" eaLnBrk="1" latinLnBrk="0" hangingPunct="1"><a:spcBef><a:spcPct val="20000"/></a:spcBef><a:buFont typeface="Arial" pitchFamily="34" charset="0"/><a:buChar char="»"/><a:defRPr sz="2000" kern="1200"><a:solidFill><a:schemeClr val="tx1"/></a:solidFill><a:latin typeface="+mn-lt"/><a:ea typeface="+mn-ea"/><a:cs typeface="+mn-cs"/></a:defRPr></a:lvl5pPr><a:lvl6pPr marL="2514600" indent="-228600" algn="l" defTabSz="914400" rtl="0" eaLnBrk="1" latinLnBrk="0" hangingPunct="1"><a:spcBef><a:spcPct val="20000"/></a:spcBef><a:buFont typeface="Arial" pitchFamily="34" charset="0"/><a:buChar char="•"/><a:defRPr sz="2000" kern="1200"><a:solidFill><a:schemeClr val="tx1"/></a:solidFill><a:latin typeface="+mn-lt"/><a:ea typeface="+mn-ea"/><a:cs typeface="+mn-cs"/></a:defRPr></a:lvl6pPr><a:lvl7pPr marL="2971800" indent="-228600" algn="l" defTabSz="914400" rtl="0" eaLnBrk="1" latinLnBrk="0" hangingPunct="1"><a:spcBef><a:spcPct val="20000"/></a:spcBef><a:buFont typeface="Arial" pitchFamily="34" charset="0"/><a:buChar char="•"/><a:defRPr sz="2000" kern="1200"><a:solidFill><a:schemeClr val="tx1"/></a:solidFill><a:latin typeface="+mn-lt"/><a:ea typeface="+mn-ea"/><a:cs typeface="+mn-cs"/></a:defRPr></a:lvl7pPr><a:lvl8pPr marL="3429000" indent="-228600" algn="l" defTabSz="914400" rtl="0" eaLnBrk="1" latinLnBrk="0" hangingPunct="1"><a:spcBef><a:spcPct val="20000"/></a:spcBef><a:buFont typeface="Arial" pitchFamily="34" charset="0"/><a:buChar char="•"/><a:defRPr sz="2000" kern="1200"><a:solidFill><a:schemeClr val="tx1"/></a:solidFill><a:latin typeface="+mn-lt"/><a:ea typeface="+mn-ea"/><a:cs typeface="+mn-cs"/></a:defRPr></a:lvl8pPr><a:lvl9pPr marL="3886200" indent="-228600" algn="l" defTabSz="914400" rtl="0" eaLnBrk="1" latinLnBrk="0" hangingPunct="1"><a:spcBef><a:spcPct val="20000"/></a:spcBef><a:buFont typeface="Arial" pitchFamily="34" charset="0"/><a:buChar char="•"/><a:defRPr sz="2000" kern="1200"><a:solidFill><a:schemeClr val="tx1"/></a:solidFill><a:latin typeface="+mn-lt"/><a:ea typeface="+mn-ea"/><a:cs typeface="+mn-cs"/></a:defRPr></a:lvl9pPr></p:bodyStyle><p:otherStyle><a:defPPr><a:defRPr lang="en-US"/></a:defPPr><a:lvl1pPr marL="0" algn="l" defTabSz="914400" rtl="0" eaLnBrk="1" latinLnBrk="0" hangingPunct="1"><a:defRPr sz="1800" kern="1200"><a:solidFill><a:schemeClr val="tx1"/></a:solidFill><a:latin typeface="+mn-lt"/><a:ea typeface="+mn-ea"/><a:cs typeface="+mn-cs"/></a:defRPr></a:lvl1pPr><a:lvl2pPr marL="457200" algn="l" defTabSz="914400" rtl="0" eaLnBrk="1" latinLnBrk="0" hangingPunct="1"><a:defRPr sz="1800" kern="1200"><a:solidFill><a:schemeClr val="tx1"/></a:solidFill><a:latin typeface="+mn-lt"/><a:ea typeface="+mn-ea"/><a:cs typeface="+mn-cs"/></a:defRPr></a:lvl2pPr><a:lvl3pPr marL="914400" algn="l" defTabSz="914400" rtl="0" eaLnBrk="1" latinLnBrk="0" hangingPunct="1"><a:defRPr sz="1800" kern="1200"><a:solidFill><a:schemeClr val="tx1"/></a:solidFill><a:latin typeface="+mn-lt"/><a:ea typeface="+mn-ea"/><a:cs typeface="+mn-cs"/></a:defRPr></a:lvl3pPr><a:lvl4pPr marL="1371600" algn="l" defTabSz="914400" rtl="0" eaLnBrk="1" latinLnBrk="0" hangingPunct="1"><a:defRPr sz="1800" kern="1200"><a:solidFill><a:schemeClr val="tx1"/></a:solidFill><a:latin typeface="+mn-lt"/><a:ea typeface="+mn-ea"/><a:cs typeface="+mn-cs"/></a:defRPr></a:lvl4pPr><a:lvl5pPr marL="1828800" algn="l" defTabSz="914400" rtl="0" eaLnBrk="1" latinLnBrk="0" hangingPunct="1"><a:defRPr sz="1800" kern="1200"><a:solidFill><a:schemeClr val="tx1"/></a:solidFill><a:latin typeface="+mn-lt"/><a:ea typeface="+mn-ea"/><a:cs typeface="+mn-cs"/></a:defRPr></a:lvl5pPr><a:lvl6pPr marL="2286000" algn="l" defTabSz="914400" rtl="0" eaLnBrk="1" latinLnBrk="0" hangingPunct="1"><a:defRPr sz="1800" kern="1200"><a:solidFill><a:schemeClr val="tx1"/></a:solidFill><a:latin typeface="+mn-lt"/><a:ea typeface="+mn-ea"/><a:cs typeface="+mn-cs"/></a:defRPr></a:lvl6pPr><a:lvl7pPr marL="2743200" algn="l" defTabSz="914400" rtl="0" eaLnBrk="1" latinLnBrk="0" hangingPunct="1"><a:defRPr sz="1800" kern="1200"><a:solidFill><a:schemeClr val="tx1"/></a:solidFill><a:latin typeface="+mn-lt"/><a:ea typeface="+mn-ea"/><a:cs typeface="+mn-cs"/></a:defRPr></a:lvl7pPr><a:lvl8pPr marL="3200400" algn="l" defTabSz="914400" rtl="0" eaLnBrk="1" latinLnBrk="0" hangingPunct="1"><a:defRPr sz="1800" kern="1200"><a:solidFill><a:schemeClr val="tx1"/></a:solidFill><a:latin typeface="+mn-lt"/><a:ea typeface="+mn-ea"/><a:cs typeface="+mn-cs"/></a:defRPr></a:lvl8pPr><a:lvl9pPr marL="3657600" algn="l" defTabSz="914400" rtl="0" eaLnBrk="1" latinLnBrk="0" hangingPunct="1"><a:defRPr sz="1800" kern="1200"><a:solidFill><a:schemeClr val="tx1"/></a:solidFill><a:latin typeface="+mn-lt"/><a:ea typeface="+mn-ea"/><a:cs typeface="+mn-cs"/></a:defRPr></a:lvl9pPr></p:otherStyle></p:txStyles>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"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1371718" y="717946"/><a:ext cx="5318641" cy="274439"/></a:xfrm><a:prstGeom prst="rect"><a:avLst/></a:prstGeom><a:noFill/><a:ln/></p:spPr><p:txBody><a:bodyPr wrap="none" lIns="0" tIns="0" rIns="0" bIns="0" rtlCol="0" anchor="t"/><a:lstStyle/><a:p><a:pPr marL="0" indent="0" algn="l"><a:lnSpc><a:spcPts val="1850"/></a:lnSpc><a:buNone/></a:pPr><a:r><a:rPr lang="en-US" b="1" dirty="0"><a:solidFill><a:srgbClr val="443728"/></a:solidFill><a:latin typeface="Arial" panose="020B0604020202020204" pitchFamily="34" charset="0"/><a:ea typeface="Roboto" panose="02000000000000000000" pitchFamily="2" charset="0"/><a:cs typeface="Arial" panose="020B0604020202020204" pitchFamily="34" charset="0"/></a:rPr><a:t>St. Clair College | Data Analytics for Business </a:t></a:r><a:endParaRPr lang="en-US" dirty="0"><a:latin typeface="Arial" panose="020B0604020202020204" pitchFamily="34" charset="0"/><a:cs typeface="Arial" panose="020B0604020202020204" pitchFamily="34" charset="0"/></a:endParaRPr></a:p></p:txBody></p:sp><p:sp><p:nvSpPr><p:cNvPr id="3" name="Text 1"/><p:cNvSpPr/><p:nvPr/></p:nvSpPr><p:spPr><a:xfrm><a:off x="1371719" y="1044893"/><a:ext cx="10742652" cy="471011"/></a:xfrm><a:prstGeom prst="rect"><a:avLst/></a:prstGeom><a:noFill/><a:ln/></p:spPr><p:txBody><a:bodyPr wrap="none" lIns="0" tIns="0" rIns="0" bIns="0" rtlCol="0" anchor="t"/><a:lstStyle/><a:p><a:pPr marL="0" indent="0" algn="l"><a:lnSpc><a:spcPts val="3700"/></a:lnSpc><a:buNone/></a:pPr><a:r><a:rPr lang="en-US" sz="3200" b="1" dirty="0"><a:solidFill><a:srgbClr val="443728"/></a:solidFill><a:latin typeface="Arial" panose="020B0604020202020204" pitchFamily="34" charset="0"/><a:ea typeface="Roboto" panose="02000000000000000000" pitchFamily="2" charset="0"/><a:cs typeface="Arial" panose="020B0604020202020204" pitchFamily="34" charset="0"/></a:rPr><a:t>Healthcare Analytics: Predicting 30-Day Hospital Readmissions</a:t></a:r><a:endParaRPr lang="en-US" sz="3200" dirty="0"><a:latin typeface="Arial" panose="020B0604020202020204" pitchFamily="34" charset="0"/><a:cs typeface="Arial" panose="020B0604020202020204" pitchFamily="34" charset="0"/></a:endParaRPr></a:p></p:txBody></p:sp><p:sp><p:nvSpPr><p:cNvPr id="4" name="Text 2"/><p:cNvSpPr/><p:nvPr/></p:nvSpPr><p:spPr><a:xfrm><a:off x="1371719" y="1718072"/><a:ext cx="11886843" cy="212169"/></a:xfrm><a:prstGeom prst="rect"><a:avLst/></a:prstGeom><a:noFill/><a:ln/></p:spPr><p:txBody><a:bodyPr wrap="none" lIns="0" tIns="0" rIns="0" bIns="0" rtlCol="0" anchor="t"/><a:lstStyle/><a:p><a:pPr marL="0" indent="0" algn="l"><a:lnSpc><a:spcPts val="1650"/></a:lnSpc><a:buNone/></a:pPr><a:r><a:rPr lang="en-US" sz="1600" dirty="0"><a:solidFill><a:srgbClr val="443728"/></a:solidFill><a:latin typeface="Arial" panose="020B0604020202020204" pitchFamily="34" charset="0"/><a:ea typeface="Open Sans" pitchFamily="34" charset="-122"/><a:cs typeface="Arial" panose="020B0604020202020204" pitchFamily="34" charset="0"/></a:rPr><a:t>End-to-End Machine Learning Pipeline on the Diabetes 130-US Hospitals Dataset</a:t></a:r><a:endParaRPr lang="en-US" sz="1600" dirty="0"><a:latin typeface="Arial" panose="020B0604020202020204" pitchFamily="34" charset="0"/><a:cs typeface="Arial" panose="020B0604020202020204" pitchFamily="34" charset="0"/></a:endParaRPr></a:p></p:txBody></p:sp><p:pic><p:nvPicPr><p:cNvPr id="5" name="Image 0" descr="preencoded.png"/><p:cNvPicPr><a:picLocks noChangeAspect="1"/></p:cNvPicPr><p:nvPr/></p:nvPicPr><p:blipFill><a:blip r:embed="rId3"/><a:stretch><a:fillRect/></a:stretch></p:blipFill><p:spPr><a:xfrm><a:off x="1371719" y="1982748"/><a:ext cx="9905762" cy="5528786"/></a:xfrm><a:prstGeom prst="rect"><a:avLst/></a:prstGeom></p:spPr></p:pic><p:pic><p:nvPicPr><p:cNvPr id="6" name="Image 1" descr="preencoded.png"/><p:cNvPicPr><a:picLocks noChangeAspect="1"/></p:cNvPicPr><p:nvPr/></p:nvPicPr><p:blipFill><a:blip r:embed="rId4"/><a:stretch><a:fillRect/></a:stretch></p:blipFill><p:spPr><a:xfrm><a:off x="1371719" y="1982748"/><a:ext cx="9905762" cy="5528786"/></a:xfrm><a:prstGeom prst="rect"><a:avLst/></a:prstGeom></p:spPr></p:pic><p:sp><p:nvSpPr><p:cNvPr id="7" name="TextBox 6"><a:extLst><a:ext uri="{FF2B5EF4-FFF2-40B4-BE49-F238E27FC236}"><a16:creationId xmlns:a16="http://schemas.microsoft.com/office/drawing/2014/main" id="{DF820E0F-9790-708E-A3A0-769511BCB36C}"/></a:ext></a:extLst></p:cNvPr><p:cNvSpPr txBox="1"/><p:nvPr/></p:nvSpPr><p:spPr><a:xfrm><a:off x="12542520" y="5678864"/><a:ext cx="1889760" cy="400110"/></a:xfrm><a:prstGeom prst="rect"><a:avLst/></a:prstGeom><a:noFill/></p:spPr><p:txBody><a:bodyPr wrap="square" rtlCol="0"><a:spAutoFit/></a:bodyPr><a:lstStyle/><a:p><a:r><a:rPr lang="en-US" sz="2000" b="1" dirty="0"><a:latin typeface="Arial" panose="020B0604020202020204" pitchFamily="34" charset="0"/><a:cs typeface="Arial" panose="020B0604020202020204" pitchFamily="34" charset="0"/></a:rPr><a:t>Group 8</a:t></a:r><a:endParaRPr lang="en-IN" sz="2000" b="1" dirty="0"><a:latin typeface="Arial" panose="020B0604020202020204" pitchFamily="34" charset="0"/><a:cs typeface="Arial" panose="020B0604020202020204" pitchFamily="34" charset="0"/></a:endParaRPr></a:p></p:txBody></p:sp><p:sp><p:nvSpPr><p:cNvPr id="11" name="TextBox 10"><a:extLst><a:ext uri="{FF2B5EF4-FFF2-40B4-BE49-F238E27FC236}"><a16:creationId xmlns:a16="http://schemas.microsoft.com/office/drawing/2014/main" id="{87E787FF-5D9E-5329-4E95-4018555333D1}"/></a:ext></a:extLst></p:cNvPr><p:cNvSpPr txBox="1"/><p:nvPr/></p:nvSpPr><p:spPr><a:xfrm><a:off x="11506200" y="6078974"/><a:ext cx="2484120" cy="1200329"/></a:xfrm><a:prstGeom prst="rect"><a:avLst/></a:prstGeom><a:noFill/></p:spPr><p:txBody><a:bodyPr wrap="square" rtlCol="0"><a:spAutoFit/></a:bodyPr><a:lstStyle/><a:p><a:pPr algn="r"/><a:r><a:rPr lang="en-US" dirty="0"/><a:t>Aum Bimalbhai Gajjar</a:t></a:r></a:p><a:p><a:pPr algn="r"/><a:r><a:rPr lang="en-US" dirty="0"/><a:t>Priyanka Sharma</a:t></a:r></a:p><a:p><a:pPr algn="r"/><a:r><a:rPr lang="en-US" dirty="0" err="1"/><a:t>Souravdeep</a:t></a:r><a:r><a:rPr lang="en-US" dirty="0"/><a:t> Singh</a:t></a:r></a:p><a:p><a:pPr algn="r"/><a:r><a:rPr lang="en-US" dirty="0"/><a:t>Sakshi </a:t></a:r><a:r><a:rPr lang="en-US" dirty="0" err="1"/><a:t>Sakshi</a:t></a:r><a:endParaRPr lang="en-IN" dirty="0"/></a:p></p:txBody></p:sp></p:spTree></p:cSld><p:clrMapOvr><a:masterClrMapping/></p:clrMapOvr></p:sld>
</file>

<file path=ppt/slides/slide2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2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789146"/><a:ext cx="1852970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852" y="848678"/><a:ext cx="1614845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EXECUTIVE SUMMARY</a:t></a:r><a:endParaRPr lang="en-US" sz="1250" dirty="0"/></a:p></p:txBody></p:sp><p:sp><p:nvSpPr><p:cNvPr id="4" name="Text 2"/><p:cNvSpPr/><p:nvPr/></p:nvSpPr><p:spPr><a:xfrm><a:off x="793790" y="1241584"/><a:ext cx="5937409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Arial" panose="020B0604020202020204" pitchFamily="34" charset="0"/></a:rPr><a:t>Objective &amp; Business Case</a:t></a:r><a:endParaRPr lang="en-US" sz="3900" dirty="0"/></a:p></p:txBody></p:sp><p:sp><p:nvSpPr><p:cNvPr id="5" name="Shape 3"/><p:cNvSpPr/><p:nvPr/></p:nvSpPr><p:spPr><a:xfrm><a:off x="650915" y="2159318"/><a:ext cx="6565106" cy="5281136"/></a:xfrm><a:prstGeom prst="roundRect"><a:avLst><a:gd name="adj" fmla="val 2706"/></a:avLst></a:prstGeom><a:solidFill><a:srgbClr val="835E54"/></a:solidFill><a:ln/></p:spPr><p:txBody><a:bodyPr/><a:lstStyle/><a:p><a:endParaRPr lang="en-IN"/></a:p></p:txBody></p:sp><p:sp><p:nvSpPr><p:cNvPr id="6" name="Text 4"/><p:cNvSpPr/><p:nvPr/></p:nvSpPr><p:spPr><a:xfrm><a:off x="849273" y="2357676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400" b="1" dirty="0"><a:solidFill><a:srgbClr val="FFFFFF"/></a:solidFill><a:latin typeface="Roboto" panose="02000000000000000000" pitchFamily="2" charset="0"/><a:ea typeface="Roboto" panose="02000000000000000000" pitchFamily="2" charset="0"/><a:cs typeface="Arial" panose="020B0604020202020204" pitchFamily="34" charset="0"/></a:rPr><a:t>The Problem</a:t></a:r><a:endParaRPr lang="en-US" sz="2400" dirty="0"/></a:p></p:txBody></p:sp><p:sp><p:nvSpPr><p:cNvPr id="7" name="Text 5"/><p:cNvSpPr/><p:nvPr/></p:nvSpPr><p:spPr><a:xfrm><a:off x="849273" y="2866192"/><a:ext cx="6168390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dirty="0"><a:solidFill><a:srgbClr val="FFFFFF"/></a:solidFill><a:latin typeface="Open Sans" pitchFamily="34" charset="0"/><a:ea typeface="Open Sans" pitchFamily="34" charset="-122"/><a:cs typeface="Open Sans" pitchFamily="34" charset="-120"/></a:rPr><a:t>30-day hospital readmissions are a major cost driver for healthcare systems and often signal gaps in post-discharge care. Identifying high-risk </a:t></a:r><a:r><a:rPr lang="en-US" dirty="0"><a:solidFill><a:srgbClr val="FFFFFF"/></a:solidFill><a:latin typeface="Open Sans" panose="020B0606030504020204" pitchFamily="34" charset="0"/><a:ea typeface="Open Sans" panose="020B0606030504020204" pitchFamily="34" charset="0"/><a:cs typeface="Open Sans" panose="020B0606030504020204" pitchFamily="34" charset="0"/></a:rPr><a:t>patients</a:t></a:r><a:r><a:rPr lang="en-US" dirty="0"><a:solidFill><a:srgbClr val="FFFFFF"/></a:solidFill><a:latin typeface="Open Sans" pitchFamily="34" charset="0"/><a:ea typeface="Open Sans" pitchFamily="34" charset="-122"/><a:cs typeface="Open Sans" pitchFamily="34" charset="-120"/></a:rPr><a:t> at the point of discharge enables targeted interventions: follow-up calls, medication reviews, and structured care plans.</a:t></a:r><a:endParaRPr lang="en-US" dirty="0"/></a:p></p:txBody></p:sp><p:sp><p:nvSpPr><p:cNvPr id="8" name="Text 6"/><p:cNvSpPr/><p:nvPr/></p:nvSpPr><p:spPr><a:xfrm><a:off x="7564874" y="2357676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400" b="1" dirty="0"><a:solidFill><a:srgbClr val="443728"/></a:solidFill><a:latin typeface="Roboto" panose="02000000000000000000" pitchFamily="2" charset="0"/><a:ea typeface="Roboto" panose="02000000000000000000" pitchFamily="2" charset="0"/><a:cs typeface="Arial" panose="020B0604020202020204" pitchFamily="34" charset="0"/></a:rPr><a:t>Business Objective</a:t></a:r><a:endParaRPr lang="en-US" sz="2400" dirty="0"/></a:p></p:txBody></p:sp><p:sp><p:nvSpPr><p:cNvPr id="9" name="Text 7"/><p:cNvSpPr/><p:nvPr/></p:nvSpPr><p:spPr><a:xfrm><a:off x="7564874" y="2866192"/><a:ext cx="6279356" cy="95261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Deliver a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risk-scoring tool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 that flags patients at high risk of 30-day readmission, enabling clinical teams to intervene before discharge and reduce avoidable returns.</a:t></a:r><a:endParaRPr lang="en-US" dirty="0"/></a:p></p:txBody></p:sp><p:sp><p:nvSpPr><p:cNvPr id="10" name="Shape 8"/><p:cNvSpPr/><p:nvPr/></p:nvSpPr><p:spPr><a:xfrm><a:off x="7564874" y="4049761"/><a:ext cx="6279356" cy="32385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11" name="Text 9"/><p:cNvSpPr/><p:nvPr/></p:nvSpPr><p:spPr><a:xfrm><a:off x="7564874" y="4335780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400" b="1" dirty="0"><a:solidFill><a:srgbClr val="443728"/></a:solidFill><a:latin typeface="Roboto" panose="02000000000000000000" pitchFamily="2" charset="0"/><a:ea typeface="Roboto" panose="02000000000000000000" pitchFamily="2" charset="0"/><a:cs typeface="Arial" panose="020B0604020202020204" pitchFamily="34" charset="0"/></a:rPr><a:t>Analytical Objective</a:t></a:r><a:endParaRPr lang="en-US" sz="2400" dirty="0"/></a:p></p:txBody></p:sp><p:sp><p:nvSpPr><p:cNvPr id="12" name="Text 10"/><p:cNvSpPr/><p:nvPr/></p:nvSpPr><p:spPr><a:xfrm><a:off x="7564874" y="4844296"/><a:ext cx="6279356" cy="63507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Build a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binary classification model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 predicting: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1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 = readmitted within 30 days (&lt;30)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0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 = not readmitted (&gt;30 or NO)</a:t></a:r><a:endParaRPr lang="en-US" dirty="0"/></a:p></p:txBody></p:sp><p:sp><p:nvSpPr><p:cNvPr id="13" name="Shape 11"/><p:cNvSpPr/><p:nvPr/></p:nvSpPr><p:spPr><a:xfrm><a:off x="7564874" y="5908446"/><a:ext cx="6279356" cy="32385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14" name="Text 12"/><p:cNvSpPr/><p:nvPr/></p:nvSpPr><p:spPr><a:xfrm><a:off x="7564874" y="6163985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400" b="1" dirty="0"><a:solidFill><a:srgbClr val="443728"/></a:solidFill><a:latin typeface="Roboto" panose="02000000000000000000" pitchFamily="2" charset="0"/><a:ea typeface="Roboto" panose="02000000000000000000" pitchFamily="2" charset="0"/><a:cs typeface="Arial" panose="020B0604020202020204" pitchFamily="34" charset="0"/></a:rPr><a:t>Success Criteria</a:t></a:r><a:endParaRPr lang="en-US" sz="2400" dirty="0"/></a:p></p:txBody></p:sp><p:sp><p:nvSpPr><p:cNvPr id="15" name="Text 13"/><p:cNvSpPr/><p:nvPr/></p:nvSpPr><p:spPr><a:xfrm><a:off x="7564874" y="6626781"/><a:ext cx="6279356" cy="63507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Primary metrics: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ROC-AUC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 and </a:t></a:r><a:r><a:rPr lang="en-US" b="1" dirty="0"><a:solidFill><a:srgbClr val="443728"/></a:solidFill><a:latin typeface="Open Sans" pitchFamily="34" charset="0"/><a:ea typeface="Open Sans" pitchFamily="34" charset="-122"/><a:cs typeface="Open Sans" pitchFamily="34" charset="-120"/></a:rPr><a:t>Recall</a:t></a:r><a:r><a:rPr lang="en-US" dirty="0"><a:solidFill><a:srgbClr val="443728"/></a:solidFill><a:latin typeface="Open Sans" pitchFamily="34" charset="0"/><a:ea typeface="Open Sans" pitchFamily="34" charset="-122"/><a:cs typeface="Open Sans" pitchFamily="34" charset="-120"/></a:rPr><a:t>. Missing a high-risk patient (false negative) is more costly than a false alarm in a clinical setting.</a:t></a:r><a:endParaRPr lang="en-US" dirty="0"/></a:p></p:txBody></p:sp></p:spTree></p:cSld><p:clrMapOvr><a:masterClrMapping/></p:clrMapOvr></p:sld>
</file>

<file path=ppt/slides/slide3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3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886778"/><a:ext cx="1738432" cy="388382"/></a:xfrm><a:prstGeom prst="roundRect"><a:avLst><a:gd name="adj" fmla="val 17171"/></a:avLst></a:prstGeom><a:noFill/><a:ln w="7620"><a:solidFill><a:srgbClr val="835E54"/></a:solidFill><a:prstDash val="solid"/></a:ln></p:spPr><p:txBody><a:bodyPr/><a:lstStyle/><a:p><a:endParaRPr lang="en-IN" sz="2400"/></a:p></p:txBody></p:sp><p:sp><p:nvSpPr><p:cNvPr id="3" name="Text 1"/><p:cNvSpPr/><p:nvPr/></p:nvSpPr><p:spPr><a:xfrm><a:off x="920472" y="953929"/><a:ext cx="1485067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835E54"/></a:solidFill><a:latin typeface="Open Sans" pitchFamily="34" charset="0"/><a:ea typeface="Open Sans" pitchFamily="34" charset="-122"/><a:cs typeface="Open Sans" pitchFamily="34" charset="-120"/></a:rPr><a:t>DATASET OVERVIEW</a:t></a:r><a:endParaRPr lang="en-US" sz="1250" dirty="0"/></a:p></p:txBody></p:sp><p:sp><p:nvSpPr><p:cNvPr id="4" name="Text 2"/><p:cNvSpPr/><p:nvPr/></p:nvSpPr><p:spPr><a:xfrm><a:off x="793790" y="1354455"/><a:ext cx="7835979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Diabetes 130-US Hospitals Dataset</a:t></a:r><a:endParaRPr lang="en-US" sz="3900" dirty="0"/></a:p></p:txBody></p:sp><p:sp><p:nvSpPr><p:cNvPr id="5" name="Text 3"/><p:cNvSpPr/><p:nvPr/></p:nvSpPr><p:spPr><a:xfrm><a:off x="793790" y="2371368"/><a:ext cx="6397347" cy="654963"/></a:xfrm><a:prstGeom prst="rect"><a:avLst/></a:prstGeom><a:noFill/><a:ln/></p:spPr><p:txBody><a:bodyPr wrap="none" lIns="0" tIns="0" rIns="0" bIns="0" rtlCol="0" anchor="t"/><a:lstStyle/><a:p><a:pPr marL="0" indent="0" algn="ctr"><a:lnSpc><a:spcPts val="5150"/></a:lnSpc><a:buNone/></a:pPr><a:r><a:rPr lang="en-US" sz="51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101,766</a:t></a:r><a:endParaRPr lang="en-US" sz="5150" dirty="0"/></a:p></p:txBody></p:sp><p:sp><p:nvSpPr><p:cNvPr id="6" name="Text 4"/><p:cNvSpPr/><p:nvPr/></p:nvSpPr><p:spPr><a:xfrm><a:off x="2752011" y="3274338"/><a:ext cx="2480905" cy="310158"/></a:xfrm><a:prstGeom prst="rect"><a:avLst/></a:prstGeom><a:noFill/><a:ln/></p:spPr><p:txBody><a:bodyPr wrap="none" lIns="0" tIns="0" rIns="0" bIns="0" rtlCol="0" anchor="t"/><a:lstStyle/><a:p><a:pPr marL="0" indent="0" algn="ctr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Inpatient Encounters</a:t></a:r><a:endParaRPr lang="en-US" sz="1950" dirty="0"/></a:p></p:txBody></p:sp><p:sp><p:nvSpPr><p:cNvPr id="7" name="Text 5"/><p:cNvSpPr/><p:nvPr/></p:nvSpPr><p:spPr><a:xfrm><a:off x="793790" y="3703558"/><a:ext cx="6397347" cy="317540"/></a:xfrm><a:prstGeom prst="rect"><a:avLst/></a:prstGeom><a:noFill/><a:ln/></p:spPr><p:txBody><a:bodyPr wrap="none" lIns="0" tIns="0" rIns="0" bIns="0" rtlCol="0" anchor="t"/><a:lstStyle/><a:p><a:pPr marL="0" indent="0" algn="ctr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Across 130 US hospitals, 1999–2008</a:t></a:r><a:endParaRPr lang="en-US" sz="1550" dirty="0"/></a:p></p:txBody></p:sp><p:sp><p:nvSpPr><p:cNvPr id="8" name="Text 6"/><p:cNvSpPr/><p:nvPr/></p:nvSpPr><p:spPr><a:xfrm><a:off x="7439144" y="2371368"/><a:ext cx="6397466" cy="654963"/></a:xfrm><a:prstGeom prst="rect"><a:avLst/></a:prstGeom><a:noFill/><a:ln/></p:spPr><p:txBody><a:bodyPr wrap="none" lIns="0" tIns="0" rIns="0" bIns="0" rtlCol="0" anchor="t"/><a:lstStyle/><a:p><a:pPr marL="0" indent="0" algn="ctr"><a:lnSpc><a:spcPts val="5150"/></a:lnSpc><a:buNone/></a:pPr><a:r><a:rPr lang="en-US" sz="51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71,518</a:t></a:r><a:endParaRPr lang="en-US" sz="5150" dirty="0"/></a:p></p:txBody></p:sp><p:sp><p:nvSpPr><p:cNvPr id="9" name="Text 7"/><p:cNvSpPr/><p:nvPr/></p:nvSpPr><p:spPr><a:xfrm><a:off x="9397365" y="3274338"/><a:ext cx="2480905" cy="310158"/></a:xfrm><a:prstGeom prst="rect"><a:avLst/></a:prstGeom><a:noFill/><a:ln/></p:spPr><p:txBody><a:bodyPr wrap="none" lIns="0" tIns="0" rIns="0" bIns="0" rtlCol="0" anchor="t"/><a:lstStyle/><a:p><a:pPr marL="0" indent="0" algn="ctr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Unique Patients</a:t></a:r><a:endParaRPr lang="en-US" sz="1950" dirty="0"/></a:p></p:txBody></p:sp><p:sp><p:nvSpPr><p:cNvPr id="10" name="Text 8"/><p:cNvSpPr/><p:nvPr/></p:nvSpPr><p:spPr><a:xfrm><a:off x="7439144" y="3703558"/><a:ext cx="6397466" cy="317540"/></a:xfrm><a:prstGeom prst="rect"><a:avLst/></a:prstGeom><a:noFill/><a:ln/></p:spPr><p:txBody><a:bodyPr wrap="none" lIns="0" tIns="0" rIns="0" bIns="0" rtlCol="0" anchor="t"/><a:lstStyle/><a:p><a:pPr marL="0" indent="0" algn="ctr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Avg. 1.42 encounters per patient</a:t></a:r><a:endParaRPr lang="en-US" sz="1550" dirty="0"/></a:p></p:txBody></p:sp><p:sp><p:nvSpPr><p:cNvPr id="11" name="Text 9"/><p:cNvSpPr/><p:nvPr/></p:nvSpPr><p:spPr><a:xfrm><a:off x="793790" y="4517112"/><a:ext cx="6397347" cy="654963"/></a:xfrm><a:prstGeom prst="rect"><a:avLst/></a:prstGeom><a:noFill/><a:ln/></p:spPr><p:txBody><a:bodyPr wrap="none" lIns="0" tIns="0" rIns="0" bIns="0" rtlCol="0" anchor="t"/><a:lstStyle/><a:p><a:pPr marL="0" indent="0" algn="ctr"><a:lnSpc><a:spcPts val="5150"/></a:lnSpc><a:buNone/></a:pPr><a:r><a:rPr lang="en-US" sz="51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50</a:t></a:r><a:endParaRPr lang="en-US" sz="5150" dirty="0"/></a:p></p:txBody></p:sp><p:sp><p:nvSpPr><p:cNvPr id="12" name="Text 10"/><p:cNvSpPr/><p:nvPr/></p:nvSpPr><p:spPr><a:xfrm><a:off x="2752011" y="5420082"/><a:ext cx="2480905" cy="310158"/></a:xfrm><a:prstGeom prst="rect"><a:avLst/></a:prstGeom><a:noFill/><a:ln/></p:spPr><p:txBody><a:bodyPr wrap="none" lIns="0" tIns="0" rIns="0" bIns="0" rtlCol="0" anchor="t"/><a:lstStyle/><a:p><a:pPr marL="0" indent="0" algn="ctr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Raw Columns</a:t></a:r><a:endParaRPr lang="en-US" sz="1950" dirty="0"/></a:p></p:txBody></p:sp><p:sp><p:nvSpPr><p:cNvPr id="13" name="Text 11"/><p:cNvSpPr/><p:nvPr/></p:nvSpPr><p:spPr><a:xfrm><a:off x="793790" y="5849303"/><a:ext cx="6397347" cy="317540"/></a:xfrm><a:prstGeom prst="rect"><a:avLst/></a:prstGeom><a:noFill/><a:ln/></p:spPr><p:txBody><a:bodyPr wrap="none" lIns="0" tIns="0" rIns="0" bIns="0" rtlCol="0" anchor="t"/><a:lstStyle/><a:p><a:pPr marL="0" indent="0" algn="ctr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Demographics, clinical, admission/discharge, medications</a:t></a:r><a:endParaRPr lang="en-US" sz="1550" dirty="0"/></a:p></p:txBody></p:sp><p:sp><p:nvSpPr><p:cNvPr id="14" name="Text 12"/><p:cNvSpPr/><p:nvPr/></p:nvSpPr><p:spPr><a:xfrm><a:off x="7439144" y="4517112"/><a:ext cx="6397466" cy="654963"/></a:xfrm><a:prstGeom prst="rect"><a:avLst/></a:prstGeom><a:noFill/><a:ln/></p:spPr><p:txBody><a:bodyPr wrap="none" lIns="0" tIns="0" rIns="0" bIns="0" rtlCol="0" anchor="t"/><a:lstStyle/><a:p><a:pPr marL="0" indent="0" algn="ctr"><a:lnSpc><a:spcPts val="5150"/></a:lnSpc><a:buNone/></a:pPr><a:r><a:rPr lang="en-US" sz="51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23</a:t></a:r><a:endParaRPr lang="en-US" sz="5150" dirty="0"/></a:p></p:txBody></p:sp><p:sp><p:nvSpPr><p:cNvPr id="15" name="Text 13"/><p:cNvSpPr/><p:nvPr/></p:nvSpPr><p:spPr><a:xfrm><a:off x="9326761" y="5420082"/><a:ext cx="2622233" cy="310158"/></a:xfrm><a:prstGeom prst="rect"><a:avLst/></a:prstGeom><a:noFill/><a:ln/></p:spPr><p:txBody><a:bodyPr wrap="none" lIns="0" tIns="0" rIns="0" bIns="0" rtlCol="0" anchor="t"/><a:lstStyle/><a:p><a:pPr marL="0" indent="0" algn="ctr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Diabetes Drug Columns</a:t></a:r><a:endParaRPr lang="en-US" sz="1950" dirty="0"/></a:p></p:txBody></p:sp><p:sp><p:nvSpPr><p:cNvPr id="16" name="Text 14"/><p:cNvSpPr/><p:nvPr/></p:nvSpPr><p:spPr><a:xfrm><a:off x="7439144" y="5849303"/><a:ext cx="6397466" cy="317540"/></a:xfrm><a:prstGeom prst="rect"><a:avLst/></a:prstGeom><a:noFill/><a:ln/></p:spPr><p:txBody><a:bodyPr wrap="none" lIns="0" tIns="0" rIns="0" bIns="0" rtlCol="0" anchor="t"/><a:lstStyle/><a:p><a:pPr marL="0" indent="0" algn="ctr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Individual medication dosage change indicators</a:t></a:r><a:endParaRPr lang="en-US" sz="1550" dirty="0"/></a:p></p:txBody></p:sp><p:sp><p:nvSpPr><p:cNvPr id="17" name="Text 15"/><p:cNvSpPr/><p:nvPr/></p:nvSpPr><p:spPr><a:xfrm><a:off x="793790" y="6390084"/><a:ext cx="13042821" cy="952619"/></a:xfrm><a:prstGeom prst="rect"><a:avLst/></a:prstGeom><a:noFill/><a:ln/></p:spPr><p:txBody><a:bodyPr wrap="square" lIns="0" tIns="0" rIns="0" bIns="0" rtlCol="0" anchor="t"/><a:lstStyle/><a:p><a:pPr marL="0" indent="0" algn="just"><a:lnSpc><a:spcPts val="250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Each row represents a single inpatient encounter  -  not a unique patient. The 50 columns fall into five logical groups: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Identifiers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(encounter_id, patient_nbr),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Demographics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(race, gender, age, weight),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Admission/Discharge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metadata,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Clinical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results and diagnoses, and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Medications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(23 drug columns + change, diabetesMed). The target variable is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readmitted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: &lt;30, &gt;30, or NO.</a:t></a:r><a:endParaRPr lang="en-US" sz="1600" dirty="0"/></a:p></p:txBody></p:sp></p:spTree></p:cSld><p:clrMapOvr><a:masterClrMapping/></p:clrMapOvr></p:sld>
</file>

<file path=ppt/slides/slide4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4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1029891"/><a:ext cx="1145619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852" y="1089422"/><a:ext cx="907494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00" dirty="0"><a:solidFill><a:srgbClr val="443728"/></a:solidFill><a:latin typeface="Open Sans" pitchFamily="34" charset="0"/><a:ea typeface="Open Sans" pitchFamily="34" charset="-122"/><a:cs typeface="Open Sans" pitchFamily="34" charset="-120"/></a:rPr><a:t>DATA AUDIT</a:t></a:r><a:endParaRPr lang="en-US" sz="1200" dirty="0"/></a:p></p:txBody></p:sp><p:sp><p:nvSpPr><p:cNvPr id="4" name="Text 2"/><p:cNvSpPr/><p:nvPr/></p:nvSpPr><p:spPr><a:xfrm><a:off x="793790" y="1482328"/><a:ext cx="5316498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6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Data Quality Challenges</a:t></a:r><a:endParaRPr lang="en-US" sz="3600" dirty="0"/></a:p></p:txBody></p:sp><p:sp><p:nvSpPr><p:cNvPr id="5" name="Shape 3"/><p:cNvSpPr/><p:nvPr/></p:nvSpPr><p:spPr><a:xfrm><a:off x="793790" y="2400062"/><a:ext cx="6422231" cy="2141815"/></a:xfrm><a:prstGeom prst="roundRect"><a:avLst><a:gd name="adj" fmla="val 5123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6" name="Shape 4"/><p:cNvSpPr/><p:nvPr/></p:nvSpPr><p:spPr><a:xfrm><a:off x="770930" y="2400062"/><a:ext cx="91440" cy="2141815"/></a:xfrm><a:prstGeom prst="roundRect"><a:avLst><a:gd name="adj" fmla="val 91163"/></a:avLst></a:prstGeom><a:solidFill><a:srgbClr val="835E54"/></a:solidFill><a:ln/></p:spPr><p:txBody><a:bodyPr/><a:lstStyle/><a:p><a:endParaRPr lang="en-IN"/></a:p></p:txBody></p:sp><p:sp><p:nvSpPr><p:cNvPr id="7" name="Text 5"/><p:cNvSpPr/><p:nvPr/></p:nvSpPr><p:spPr><a:xfrm><a:off x="1083588" y="2621280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Extreme Missingness</a:t></a:r><a:endParaRPr lang="en-US" sz="2000" dirty="0"/></a:p></p:txBody></p:sp><p:sp><p:nvSpPr><p:cNvPr id="8" name="Text 6"/><p:cNvSpPr/><p:nvPr/></p:nvSpPr><p:spPr><a:xfrm><a:off x="1083588" y="3050500"/><a:ext cx="5911215" cy="127015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weight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: 96.9% missing (98,569 of 101,766 rows).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max_glu_serum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: 94.7% genuine NaN.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A1Cresult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: 83.3% genuine NaN. Lab tests were simply not ordered for most encounters  -  absence itself is clinically informative.</a:t></a:r><a:endParaRPr lang="en-US" sz="1600" dirty="0"/></a:p></p:txBody></p:sp><p:sp><p:nvSpPr><p:cNvPr id="9" name="Shape 7"/><p:cNvSpPr/><p:nvPr/></p:nvSpPr><p:spPr><a:xfrm><a:off x="7414379" y="2400062"/><a:ext cx="6422231" cy="2141815"/></a:xfrm><a:prstGeom prst="roundRect"><a:avLst><a:gd name="adj" fmla="val 5123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10" name="Shape 8"/><p:cNvSpPr/><p:nvPr/></p:nvSpPr><p:spPr><a:xfrm><a:off x="7391519" y="2400062"/><a:ext cx="91440" cy="2141815"/></a:xfrm><a:prstGeom prst="roundRect"><a:avLst><a:gd name="adj" fmla="val 91163"/></a:avLst></a:prstGeom><a:solidFill><a:srgbClr val="835E54"/></a:solidFill><a:ln/></p:spPr><p:txBody><a:bodyPr/><a:lstStyle/><a:p><a:endParaRPr lang="en-IN"/></a:p></p:txBody></p:sp><p:sp><p:nvSpPr><p:cNvPr id="11" name="Text 9"/><p:cNvSpPr/><p:nvPr/></p:nvSpPr><p:spPr><a:xfrm><a:off x="7704177" y="2621280"/><a:ext cx="2536031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" - " Placeholder Strings</a:t></a:r><a:endParaRPr lang="en-US" sz="2000" dirty="0"/></a:p></p:txBody></p:sp><p:sp><p:nvSpPr><p:cNvPr id="12" name="Text 10"/><p:cNvSpPr/><p:nvPr/></p:nvSpPr><p:spPr><a:xfrm><a:off x="7704177" y="3050500"/><a:ext cx="5911215" cy="127015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Missing values were also encoded as the string </a:t></a:r><a:r><a:rPr lang="en-US" sz="1600" dirty="0"><a:solidFill><a:srgbClr val="443728"/></a:solidFill><a:highlight><a:srgbClr val="F2EFED"/></a:highlight><a:latin typeface="Consolas" pitchFamily="34" charset="0"/><a:ea typeface="Consolas" pitchFamily="34" charset="-122"/><a:cs typeface="Consolas" pitchFamily="34" charset="-120"/></a:rPr><a:t> - 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, invisible to standard null checks. Affected columns: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medical_specialty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(49.1%),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payer_code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(39.6%),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race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(2.2%),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diag_3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(1.4%),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diag_2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(0.4%),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diag_1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(0.02%).</a:t></a:r><a:endParaRPr lang="en-US" sz="1600" dirty="0"/></a:p></p:txBody></p:sp><p:sp><p:nvSpPr><p:cNvPr id="13" name="Shape 11"/><p:cNvSpPr/><p:nvPr/></p:nvSpPr><p:spPr><a:xfrm><a:off x="793790" y="4740235"/><a:ext cx="6422231" cy="2459355"/></a:xfrm><a:prstGeom prst="roundRect"><a:avLst><a:gd name="adj" fmla="val 4462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14" name="Shape 12"/><p:cNvSpPr/><p:nvPr/></p:nvSpPr><p:spPr><a:xfrm><a:off x="770930" y="4740235"/><a:ext cx="91440" cy="2459355"/></a:xfrm><a:prstGeom prst="roundRect"><a:avLst><a:gd name="adj" fmla="val 91163"/></a:avLst></a:prstGeom><a:solidFill><a:srgbClr val="835E54"/></a:solidFill><a:ln/></p:spPr><p:txBody><a:bodyPr/><a:lstStyle/><a:p><a:endParaRPr lang="en-IN"/></a:p></p:txBody></p:sp><p:sp><p:nvSpPr><p:cNvPr id="15" name="Text 13"/><p:cNvSpPr/><p:nvPr/></p:nvSpPr><p:spPr><a:xfrm><a:off x="1083588" y="4961453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Data Leakage Risks</a:t></a:r><a:endParaRPr lang="en-US" sz="2000" dirty="0"/></a:p></p:txBody></p:sp><p:sp><p:nvSpPr><p:cNvPr id="16" name="Text 14"/><p:cNvSpPr/><p:nvPr/></p:nvSpPr><p:spPr><a:xfrm><a:off x="1083588" y="5390674"/><a:ext cx="5911215" cy="127015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encounter_id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is a unique row key with no predictive value.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patient_nbr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is a patient identifier  -  since some patients appear multiple times, including it would allow the model to memorise patients rather than learn clinical patterns.</a:t></a:r><a:endParaRPr lang="en-US" sz="1600" dirty="0"/></a:p></p:txBody></p:sp><p:sp><p:nvSpPr><p:cNvPr id="17" name="Shape 15"/><p:cNvSpPr/><p:nvPr/></p:nvSpPr><p:spPr><a:xfrm><a:off x="7414379" y="4740235"/><a:ext cx="6422231" cy="2459355"/></a:xfrm><a:prstGeom prst="roundRect"><a:avLst><a:gd name="adj" fmla="val 4462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18" name="Shape 16"/><p:cNvSpPr/><p:nvPr/></p:nvSpPr><p:spPr><a:xfrm><a:off x="7391519" y="4740235"/><a:ext cx="91440" cy="2459355"/></a:xfrm><a:prstGeom prst="roundRect"><a:avLst><a:gd name="adj" fmla="val 91163"/></a:avLst></a:prstGeom><a:solidFill><a:srgbClr val="835E54"/></a:solidFill><a:ln/></p:spPr><p:txBody><a:bodyPr/><a:lstStyle/><a:p><a:endParaRPr lang="en-IN"/></a:p></p:txBody></p:sp><p:sp><p:nvSpPr><p:cNvPr id="19" name="Text 17"/><p:cNvSpPr/><p:nvPr/></p:nvSpPr><p:spPr><a:xfrm><a:off x="7704177" y="4961453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Coded ID Columns</a:t></a:r><a:endParaRPr lang="en-US" sz="2000" dirty="0"/></a:p></p:txBody></p:sp><p:sp><p:nvSpPr><p:cNvPr id="20" name="Text 18"/><p:cNvSpPr/><p:nvPr/></p:nvSpPr><p:spPr><a:xfrm><a:off x="7704177" y="5390674"/><a:ext cx="5911215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admission_type_id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discharge_disposition_id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, and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admission_source_id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store categorical information as numeric codes. Leaving them as integers would mislead models into treating them as ordered quantities when they are purely categorical.</a:t></a:r><a:endParaRPr lang="en-US" sz="1600" dirty="0"/></a:p></p:txBody></p:sp></p:spTree></p:cSld><p:clrMapOvr><a:masterClrMapping/></p:clrMapOvr></p:sld>
</file>

<file path=ppt/slides/slide5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5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673894" y="463272"/><a:ext cx="1233726" cy="300276"/></a:xfrm><a:prstGeom prst="roundRect"><a:avLst><a:gd name="adj" fmla="val 18855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774978" y="513755"/><a:ext cx="1031558" cy="199311"/></a:xfrm><a:prstGeom prst="rect"><a:avLst/></a:prstGeom><a:noFill/><a:ln/></p:spPr><p:txBody><a:bodyPr wrap="none" lIns="0" tIns="0" rIns="0" bIns="0" rtlCol="0" anchor="t"/><a:lstStyle/><a:p><a:pPr marL="0" indent="0" algn="l"><a:lnSpc><a:spcPts val="1550"/></a:lnSpc><a:buNone/></a:pPr><a:r><a:rPr lang="en-US" sz="1050" dirty="0"><a:solidFill><a:srgbClr val="443728"/></a:solidFill><a:latin typeface="Open Sans" pitchFamily="34" charset="0"/><a:ea typeface="Open Sans" pitchFamily="34" charset="-122"/><a:cs typeface="Open Sans" pitchFamily="34" charset="-120"/></a:rPr><a:t>DATA CLEANING</a:t></a:r><a:endParaRPr lang="en-US" sz="1050" dirty="0"/></a:p></p:txBody></p:sp><p:sp><p:nvSpPr><p:cNvPr id="4" name="Text 2"/><p:cNvSpPr/><p:nvPr/></p:nvSpPr><p:spPr><a:xfrm><a:off x="673894" y="820698"/><a:ext cx="6481048" cy="526494"/></a:xfrm><a:prstGeom prst="rect"><a:avLst/></a:prstGeom><a:noFill/><a:ln/></p:spPr><p:txBody><a:bodyPr wrap="none" lIns="0" tIns="0" rIns="0" bIns="0" rtlCol="0" anchor="t"/><a:lstStyle/><a:p><a:pPr marL="0" indent="0" algn="l"><a:lnSpc><a:spcPts val="4100"/></a:lnSpc><a:buNone/></a:pPr><a:r><a:rPr lang="en-US" sz="33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The 6-Step Data Cleaning Pipeline</a:t></a:r><a:endParaRPr lang="en-US" sz="3300" dirty="0"/></a:p></p:txBody></p:sp><p:pic><p:nvPicPr><p:cNvPr id="5" name="Image 0" descr="preencoded.png"/><p:cNvPicPr><a:picLocks noChangeAspect="1"/></p:cNvPicPr><p:nvPr/></p:nvPicPr><p:blipFill><a:blip r:embed="rId3"/><a:stretch><a:fillRect/></a:stretch></p:blipFill><p:spPr><a:xfrm><a:off x="886539" y="1561743"/><a:ext cx="12857202" cy="4824532"/></a:xfrm><a:prstGeom prst="rect"><a:avLst/></a:prstGeom></p:spPr></p:pic><p:pic><p:nvPicPr><p:cNvPr id="6" name="Image 1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4"/></a:ext></a:extLst></a:blip><a:stretch><a:fillRect/></a:stretch></p:blipFill><p:spPr><a:xfrm><a:off x="11866655" y="2790638"/><a:ext cx="664116" cy="664116"/></a:xfrm><a:prstGeom prst="rect"><a:avLst/></a:prstGeom></p:spPr></p:pic><p:sp><p:nvSpPr><p:cNvPr id="7" name="Text 3"/><p:cNvSpPr/><p:nvPr/></p:nvSpPr><p:spPr><a:xfrm><a:off x="11274970" y="5215075"/><a:ext cx="1939217" cy="373565"/></a:xfrm><a:prstGeom prst="rect"><a:avLst/></a:prstGeom><a:noFill/><a:ln/></p:spPr><p:txBody><a:bodyPr wrap="none" lIns="0" tIns="0" rIns="0" bIns="0" rtlCol="0" anchor="t"/><a:lstStyle/><a:p><a:pPr marL="0" indent="0" algn="ctr"><a:lnSpc><a:spcPts val="2900"/></a:lnSpc><a:buNone/></a:pPr><a:r><a:rPr lang="en-US" sz="23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Map IDs</a:t></a:r><a:endParaRPr lang="en-US" sz="2350" dirty="0"/></a:p></p:txBody></p:sp><p:pic><p:nvPicPr><p:cNvPr id="8" name="Image 2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5"/></a:ext></a:extLst></a:blip><a:stretch><a:fillRect/></a:stretch></p:blipFill><p:spPr><a:xfrm><a:off x="9435369" y="2791883"/><a:ext cx="664116" cy="664116"/></a:xfrm><a:prstGeom prst="rect"><a:avLst/></a:prstGeom></p:spPr></p:pic><p:sp><p:nvSpPr><p:cNvPr id="9" name="Text 4"/><p:cNvSpPr/><p:nvPr/></p:nvSpPr><p:spPr><a:xfrm><a:off x="8831025" y="5028292"/><a:ext cx="1939217" cy="747130"/></a:xfrm><a:prstGeom prst="rect"><a:avLst/></a:prstGeom><a:noFill/><a:ln/></p:spPr><p:txBody><a:bodyPr wrap="square" lIns="0" tIns="0" rIns="0" bIns="0" rtlCol="0" anchor="t"/><a:lstStyle/><a:p><a:pPr marL="0" indent="0" algn="ctr"><a:lnSpc><a:spcPts val="2900"/></a:lnSpc><a:buNone/></a:pPr><a:r><a:rPr lang="en-US" sz="23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Age Midpoints</a:t></a:r><a:endParaRPr lang="en-US" sz="2350" dirty="0"/></a:p></p:txBody></p:sp><p:pic><p:nvPicPr><p:cNvPr id="10" name="Image 3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6"/></a:ext></a:extLst></a:blip><a:stretch><a:fillRect/></a:stretch></p:blipFill><p:spPr><a:xfrm><a:off x="7004706" y="2791883"/><a:ext cx="664116" cy="664116"/></a:xfrm><a:prstGeom prst="rect"><a:avLst/></a:prstGeom></p:spPr></p:pic><p:sp><p:nvSpPr><p:cNvPr id="11" name="Text 5"/><p:cNvSpPr/><p:nvPr/></p:nvSpPr><p:spPr><a:xfrm><a:off x="6400361" y="5028292"/><a:ext cx="1939217" cy="747130"/></a:xfrm><a:prstGeom prst="rect"><a:avLst/></a:prstGeom><a:noFill/><a:ln/></p:spPr><p:txBody><a:bodyPr wrap="square" lIns="0" tIns="0" rIns="0" bIns="0" rtlCol="0" anchor="t"/><a:lstStyle/><a:p><a:pPr marL="0" indent="0" algn="ctr"><a:lnSpc><a:spcPts val="2900"/></a:lnSpc><a:buNone/></a:pPr><a:r><a:rPr lang="en-US" sz="23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Binarize Target</a:t></a:r><a:endParaRPr lang="en-US" sz="2350" dirty="0"/></a:p></p:txBody></p:sp><p:pic><p:nvPicPr><p:cNvPr id="12" name="Image 4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7"/></a:ext></a:extLst></a:blip><a:stretch><a:fillRect/></a:stretch></p:blipFill><p:spPr><a:xfrm><a:off x="4574043" y="2791883"/><a:ext cx="664116" cy="664116"/></a:xfrm><a:prstGeom prst="rect"><a:avLst/></a:prstGeom></p:spPr></p:pic><p:sp><p:nvSpPr><p:cNvPr id="13" name="Text 6"/><p:cNvSpPr/><p:nvPr/></p:nvSpPr><p:spPr><a:xfrm><a:off x="3969698" y="5215075"/><a:ext cx="1939218" cy="373565"/></a:xfrm><a:prstGeom prst="rect"><a:avLst/></a:prstGeom><a:noFill/><a:ln/></p:spPr><p:txBody><a:bodyPr wrap="none" lIns="0" tIns="0" rIns="0" bIns="0" rtlCol="0" anchor="t"/><a:lstStyle/><a:p><a:pPr marL="0" indent="0" algn="ctr"><a:lnSpc><a:spcPts val="2900"/></a:lnSpc><a:buNone/></a:pPr><a:r><a:rPr lang="en-US" sz="23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Fill Unknowns</a:t></a:r><a:endParaRPr lang="en-US" sz="2350" dirty="0"/></a:p></p:txBody></p:sp><p:pic><p:nvPicPr><p:cNvPr id="14" name="Image 5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8"/></a:ext></a:extLst></a:blip><a:stretch><a:fillRect/></a:stretch></p:blipFill><p:spPr><a:xfrm><a:off x="2130097" y="2791883"/><a:ext cx="664116" cy="664116"/></a:xfrm><a:prstGeom prst="rect"><a:avLst/></a:prstGeom></p:spPr></p:pic><p:sp><p:nvSpPr><p:cNvPr id="15" name="Text 7"/><p:cNvSpPr/><p:nvPr/></p:nvSpPr><p:spPr><a:xfrm><a:off x="1485905" y="5215075"/><a:ext cx="1939218" cy="373565"/></a:xfrm><a:prstGeom prst="rect"><a:avLst/></a:prstGeom><a:noFill/><a:ln/></p:spPr><p:txBody><a:bodyPr wrap="none" lIns="0" tIns="0" rIns="0" bIns="0" rtlCol="0" anchor="t"/><a:lstStyle/><a:p><a:pPr marL="0" indent="0" algn="ctr"><a:lnSpc><a:spcPts val="2900"/></a:lnSpc><a:buNone/></a:pPr><a:r><a:rPr lang="en-US" sz="23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Drop Columns</a:t></a:r><a:endParaRPr lang="en-US" sz="2350" dirty="0"/></a:p></p:txBody></p:sp><p:sp><p:nvSpPr><p:cNvPr id="16" name="Text 8"/><p:cNvSpPr/><p:nvPr/></p:nvSpPr><p:spPr><a:xfrm><a:off x="673894" y="6233160"/><a:ext cx="6435804" cy="1190267"/></a:xfrm><a:prstGeom prst="rect"><a:avLst/></a:prstGeom><a:noFill/><a:ln/></p:spPr><p:txBody><a:bodyPr wrap="square" lIns="0" tIns="0" rIns="0" bIns="0" rtlCol="0" anchor="t"/><a:lstStyle/><a:p><a:pPr marL="0" indent="0" algn="l"><a:lnSpc><a:spcPts val="19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Steps 1–2: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Dropped weight (96.9% missing), encounter_id, and patient_nbr. Replaced all </a:t></a:r><a:r><a:rPr lang="en-US" sz="1600" dirty="0"><a:solidFill><a:srgbClr val="443728"/></a:solidFill><a:highlight><a:srgbClr val="F2EFED"/></a:highlight><a:latin typeface="Consolas" pitchFamily="34" charset="0"/><a:ea typeface="Consolas" pitchFamily="34" charset="-122"/><a:cs typeface="Consolas" pitchFamily="34" charset="-120"/></a:rPr><a:t> - 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placeholders and genuine NaN values with </a:t></a:r><a:r><a:rPr lang="en-US" sz="1600" dirty="0"><a:solidFill><a:srgbClr val="443728"/></a:solidFill><a:highlight><a:srgbClr val="F2EFED"/></a:highlight><a:latin typeface="Consolas" pitchFamily="34" charset="0"/><a:ea typeface="Consolas" pitchFamily="34" charset="-122"/><a:cs typeface="Consolas" pitchFamily="34" charset="-120"/></a:rPr><a:t>"Unknown"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to preserve the clinical fact that a value was not recorded.</a:t></a:r><a:endParaRPr lang="en-US" sz="1600" dirty="0"/></a:p></p:txBody></p:sp><p:sp><p:nvSpPr><p:cNvPr id="17" name="Text 9"/><p:cNvSpPr/><p:nvPr/></p:nvSpPr><p:spPr><a:xfrm><a:off x="7528322" y="6233160"/><a:ext cx="6435804" cy="1439465"/></a:xfrm><a:prstGeom prst="rect"><a:avLst/></a:prstGeom><a:noFill/><a:ln/></p:spPr><p:txBody><a:bodyPr wrap="square" lIns="0" tIns="0" rIns="0" bIns="0" rtlCol="0" anchor="t"/><a:lstStyle/><a:p><a:pPr marL="0" indent="0" algn="l"><a:lnSpc><a:spcPts val="19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Steps 3–6: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Binarized target (1 = &lt;30 days, 0 = otherwise). Converted age decade-brackets to numeric midpoints (e.g., [60-70) → 65). Mapped three coded ID columns to readable labels. Dropped all original columns superseded by cleaned replacements.</a:t></a:r><a:endParaRPr lang="en-US" sz="1600" dirty="0"/></a:p></p:txBody></p:sp></p:spTree></p:cSld><p:clrMapOvr><a:masterClrMapping/></p:clrMapOvr></p:sld>
</file>

<file path=ppt/slides/slide6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6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075" y="546854"/><a:ext cx="1565077" cy="372428"/></a:xfrm><a:prstGeom prst="roundRect"><a:avLst><a:gd name="adj" fmla="val 17890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019" y="606266"/><a:ext cx="1327190" cy="253603"/></a:xfrm><a:prstGeom prst="rect"><a:avLst/></a:prstGeom><a:noFill/><a:ln/></p:spPr><p:txBody><a:bodyPr wrap="none" lIns="0" tIns="0" rIns="0" bIns="0" rtlCol="0" anchor="t"/><a:lstStyle/><a:p><a:pPr marL="0" indent="0" algn="l"><a:lnSpc><a:spcPts val="1950"/></a:lnSpc><a:buNone/></a:pPr><a:r><a:rPr lang="en-US" sz="1200" dirty="0"><a:solidFill><a:srgbClr val="443728"/></a:solidFill><a:latin typeface="Open Sans" pitchFamily="34" charset="0"/><a:ea typeface="Open Sans" pitchFamily="34" charset="-122"/><a:cs typeface="Open Sans" pitchFamily="34" charset="-120"/></a:rPr><a:t>TARGET VARIABLE</a:t></a:r><a:endParaRPr lang="en-US" sz="1200" dirty="0"/></a:p></p:txBody></p:sp><p:sp><p:nvSpPr><p:cNvPr id="4" name="Text 2"/><p:cNvSpPr/><p:nvPr/></p:nvSpPr><p:spPr><a:xfrm><a:off x="793075" y="998458"/><a:ext cx="10632996" cy="619720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Class Imbalance: The Core Modelling Challenge</a:t></a:r><a:endParaRPr lang="en-US" sz="3900" dirty="0"/></a:p></p:txBody></p:sp><p:sp><p:nvSpPr><p:cNvPr id="5" name="Shape 3"/><p:cNvSpPr/><p:nvPr/></p:nvSpPr><p:spPr><a:xfrm><a:off x="650319" y="1915239"/><a:ext cx="5889427" cy="5767388"/></a:xfrm><a:prstGeom prst="roundRect"><a:avLst><a:gd name="adj" fmla="val 2475"/></a:avLst></a:prstGeom><a:solidFill><a:srgbClr val="835E54"/></a:solidFill><a:ln/></p:spPr><p:txBody><a:bodyPr/><a:lstStyle/><a:p><a:endParaRPr lang="en-IN"/></a:p></p:txBody></p:sp><p:sp><p:nvSpPr><p:cNvPr id="6" name="Text 4"/><p:cNvSpPr/><p:nvPr/></p:nvSpPr><p:spPr><a:xfrm><a:off x="848558" y="2113240"/><a:ext cx="2478524" cy="309801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Distribution</a:t></a:r><a:endParaRPr lang="en-US" sz="1950" dirty="0"/></a:p></p:txBody></p:sp><p:sp><p:nvSpPr><p:cNvPr id="7" name="Text 5"/><p:cNvSpPr/><p:nvPr/></p:nvSpPr><p:spPr><a:xfrm><a:off x="848558" y="2621042"/><a:ext cx="5492948" cy="316944"/></a:xfrm><a:prstGeom prst="rect"><a:avLst/></a:prstGeom><a:noFill/><a:ln/></p:spPr><p:txBody><a:bodyPr wrap="none" lIns="0" tIns="0" rIns="0" bIns="0" rtlCol="0" anchor="t"/><a:lstStyle/><a:p><a:pPr marL="0" indent="0" algn="l"><a:lnSpc><a:spcPts val="2450"/></a:lnSpc><a:buNone/></a:pP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Not Readmitted (0):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90,409 encounters  -  88.8%</a:t></a:r><a:endParaRPr lang="en-US" sz="1550" dirty="0"/></a:p></p:txBody></p:sp><p:sp><p:nvSpPr><p:cNvPr id="8" name="Text 6"/><p:cNvSpPr/><p:nvPr/></p:nvSpPr><p:spPr><a:xfrm><a:off x="848558" y="3116223"/><a:ext cx="5492948" cy="316944"/></a:xfrm><a:prstGeom prst="rect"><a:avLst/></a:prstGeom><a:noFill/><a:ln/></p:spPr><p:txBody><a:bodyPr wrap="none" lIns="0" tIns="0" rIns="0" bIns="0" rtlCol="0" anchor="t"/><a:lstStyle/><a:p><a:pPr marL="0" indent="0" algn="l"><a:lnSpc><a:spcPts val="2450"/></a:lnSpc><a:buNone/></a:pP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Readmitted &lt;30d (1):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11,357 encounters  -  11.2%</a:t></a:r><a:endParaRPr lang="en-US" sz="1550" dirty="0"/></a:p></p:txBody></p:sp><p:sp><p:nvSpPr><p:cNvPr id="9" name="Shape 7"/><p:cNvSpPr/><p:nvPr/></p:nvSpPr><p:spPr><a:xfrm><a:off x="848558" y="3755036"/><a:ext cx="5492948" cy="32385"/></a:xfrm><a:prstGeom prst="rect"><a:avLst/></a:prstGeom><a:solidFill><a:srgbClr val="FFFFFF"><a:alpha val="50000"/></a:srgbClr></a:solidFill><a:ln/></p:spPr><p:txBody><a:bodyPr/><a:lstStyle/><a:p><a:endParaRPr lang="en-IN"/></a:p></p:txBody></p:sp><p:sp><p:nvSpPr><p:cNvPr id="10" name="Text 8"/><p:cNvSpPr/><p:nvPr/></p:nvSpPr><p:spPr><a:xfrm><a:off x="848558" y="4010144"/><a:ext cx="3063954" cy="309801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The 8:1 Imbalance Problem</a:t></a:r><a:endParaRPr lang="en-US" sz="1950" dirty="0"/></a:p></p:txBody></p:sp><p:sp><p:nvSpPr><p:cNvPr id="11" name="Text 9"/><p:cNvSpPr/><p:nvPr/></p:nvSpPr><p:spPr><a:xfrm><a:off x="848558" y="4517946"/><a:ext cx="5492948" cy="950833"/></a:xfrm><a:prstGeom prst="rect"><a:avLst/></a:prstGeom><a:noFill/><a:ln/></p:spPr><p:txBody><a:bodyPr wrap="square" lIns="0" tIns="0" rIns="0" bIns="0" rtlCol="0" anchor="t"/><a:lstStyle/><a:p><a:pPr marL="0" indent="0" algn="l"><a:lnSpc><a:spcPts val="2450"/></a:lnSpc><a:buNone/></a:pP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A model that always predicts "not readmitted" achieves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88.8% accuracy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 -  yet is clinically useless. Accuracy is a misleading metric here.</a:t></a:r><a:endParaRPr lang="en-US" sz="1550" dirty="0"/></a:p></p:txBody></p:sp><p:sp><p:nvSpPr><p:cNvPr id="12" name="Shape 10"/><p:cNvSpPr/><p:nvPr/></p:nvSpPr><p:spPr><a:xfrm><a:off x="848558" y="5790647"/><a:ext cx="5492948" cy="32385"/></a:xfrm><a:prstGeom prst="rect"><a:avLst/></a:prstGeom><a:solidFill><a:srgbClr val="FFFFFF"><a:alpha val="50000"/></a:srgbClr></a:solidFill><a:ln/></p:spPr><p:txBody><a:bodyPr/><a:lstStyle/><a:p><a:endParaRPr lang="en-IN"/></a:p></p:txBody></p:sp><p:sp><p:nvSpPr><p:cNvPr id="13" name="Text 11"/><p:cNvSpPr/><p:nvPr/></p:nvSpPr><p:spPr><a:xfrm><a:off x="848558" y="6045756"/><a:ext cx="2478524" cy="309801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Solution</a:t></a:r><a:endParaRPr lang="en-US" sz="1950" dirty="0"/></a:p></p:txBody></p:sp><p:sp><p:nvSpPr><p:cNvPr id="14" name="Text 12"/><p:cNvSpPr/><p:nvPr/></p:nvSpPr><p:spPr><a:xfrm><a:off x="848558" y="6553557"/><a:ext cx="5492948" cy="950833"/></a:xfrm><a:prstGeom prst="rect"><a:avLst/></a:prstGeom><a:noFill/><a:ln/></p:spPr><p:txBody><a:bodyPr wrap="square" lIns="0" tIns="0" rIns="0" bIns="0" rtlCol="0" anchor="t"/><a:lstStyle/><a:p><a:pPr marL="0" indent="0" algn="l"><a:lnSpc><a:spcPts val="2450"/></a:lnSpc><a:buNone/></a:pP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Evaluate on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Recall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and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PR-AUC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. Use </a:t></a:r><a:r><a:rPr lang="en-US" sz="1550" dirty="0"><a:solidFill><a:srgbClr val="FFFFFF"/></a:solidFill><a:highlight><a:srgbClr val="906B61"/></a:highlight><a:latin typeface="Consolas" pitchFamily="34" charset="0"/><a:ea typeface="Consolas" pitchFamily="34" charset="-122"/><a:cs typeface="Consolas" pitchFamily="34" charset="-120"/></a:rPr><a:t>class_weight='balanced'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, SMOTE, or probability threshold tuning to catch true positives.</a:t></a:r><a:endParaRPr lang="en-US" sz="1550" dirty="0"/></a:p></p:txBody></p:sp><p:sp><p:nvSpPr><p:cNvPr id="21" name="Text 17"/><p:cNvSpPr/><p:nvPr/></p:nvSpPr><p:spPr><a:xfrm><a:off x="13188910" y="4610695"/><a:ext cx="399693" cy="118824"/></a:xfrm><a:prstGeom prst="rect"><a:avLst/></a:prstGeom><a:noFill/><a:ln/></p:spPr><p:txBody><a:bodyPr wrap="none" lIns="0" tIns="0" rIns="0" bIns="0" rtlCol="0" anchor="t"/><a:lstStyle/><a:p><a:pPr marL="0" indent="0" algn="l"><a:lnSpc><a:spcPts val="900"/></a:lnSpc><a:buNone/></a:pPr><a:endParaRPr lang="en-US" sz="700" dirty="0"/></a:p></p:txBody></p:sp><p:sp><p:nvSpPr><p:cNvPr id="28" name="Text 23"/><p:cNvSpPr/><p:nvPr/></p:nvSpPr><p:spPr><a:xfrm><a:off x="6888242" y="7254478"/><a:ext cx="6956703" cy="633889"/></a:xfrm><a:prstGeom prst="rect"><a:avLst/></a:prstGeom><a:noFill/><a:ln/></p:spPr><p:txBody><a:bodyPr wrap="square" lIns="0" tIns="0" rIns="0" bIns="0" rtlCol="0" anchor="t"/><a:lstStyle/><a:p><a:pPr marL="0" indent="0" algn="l"><a:lnSpc><a:spcPts val="245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The imbalance ratio is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8:1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. Missing a high-risk patient (false negative) is far more costly than a false alarm in a clinical risk-detection setting.</a:t></a:r><a:endParaRPr lang="en-US" sz="1550" dirty="0"/></a:p></p:txBody></p:sp><p:pic><p:nvPicPr><p:cNvPr id="30" name="Picture 29"><a:extLst><a:ext uri="{FF2B5EF4-FFF2-40B4-BE49-F238E27FC236}"><a16:creationId xmlns:a16="http://schemas.microsoft.com/office/drawing/2014/main" id="{3AAC8075-8996-0D45-BBE8-CDDBF1900395}"/></a:ext></a:extLst></p:cNvPr><p:cNvPicPr><a:picLocks noChangeAspect="1"/></p:cNvPicPr><p:nvPr/></p:nvPicPr><p:blipFill><a:blip r:embed="rId3"/><a:stretch><a:fillRect/></a:stretch></p:blipFill><p:spPr><a:xfrm><a:off x="6888242" y="1934503"/><a:ext cx="5889427" cy="5296639"/></a:xfrm><a:prstGeom prst="rect"><a:avLst/></a:prstGeom></p:spPr></p:pic></p:spTree></p:cSld><p:clrMapOvr><a:masterClrMapping/></p:clrMapOvr></p:sld>
</file>

<file path=ppt/slides/slide7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7"><p:spTree><p:nvGrpSpPr><p:cNvPr id="1" name=""/><p:cNvGrpSpPr/><p:nvPr/></p:nvGrpSpPr><p:grpSpPr><a:xfrm><a:off x="0" y="0"/><a:ext cx="0" cy="0"/><a:chOff x="0" y="0"/><a:chExt cx="0" cy="0"/></a:xfrm></p:grpSpPr><p:sp><p:nvSpPr><p:cNvPr id="3" name="Shape 0"/><p:cNvSpPr/><p:nvPr/></p:nvSpPr><p:spPr><a:xfrm><a:off x="793790" y="645081"/><a:ext cx="2220158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4" name="Text 1"/><p:cNvSpPr/><p:nvPr/></p:nvSpPr><p:spPr><a:xfrm><a:off x="912852" y="704612"/><a:ext cx="1982033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EDA  -  PRIOR UTILISATION</a:t></a:r><a:endParaRPr lang="en-US" sz="1250" dirty="0"/></a:p></p:txBody></p:sp><p:sp><p:nvSpPr><p:cNvPr id="5" name="Text 2"/><p:cNvSpPr/><p:nvPr/></p:nvSpPr><p:spPr><a:xfrm><a:off x="793790" y="1219438"/><a:ext cx="7020520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The Dominant Predictive Signal</a:t></a:r><a:endParaRPr lang="en-US" sz="3900" dirty="0"/></a:p></p:txBody></p:sp><p:sp><p:nvSpPr><p:cNvPr id="6" name="Text 3"/><p:cNvSpPr/><p:nvPr/></p:nvSpPr><p:spPr><a:xfrm><a:off x="793790" y="2193846"/><a:ext cx="4340185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number_inpatient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has 4× the Pearson correlation (0.165) of any other numeric feature. Readmitted patients have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2.2× more prior inpatient stays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(mean 1.22 vs. 0.56) and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2.0× more prior ER visits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(mean 0.36 vs. 0.18).</a:t></a:r><a:endParaRPr lang="en-US" sz="1550" dirty="0"/></a:p></p:txBody></p:sp><p:sp><p:nvSpPr><p:cNvPr id="7" name="Shape 4"/><p:cNvSpPr/><p:nvPr/></p:nvSpPr><p:spPr><a:xfrm><a:off x="1129903" y="4173974"/><a:ext cx="2732008" cy="722114"/></a:xfrm><a:prstGeom prst="roundRect"><a:avLst><a:gd name="adj" fmla="val 11544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8" name="Text 5"/><p:cNvSpPr/><p:nvPr/></p:nvSpPr><p:spPr><a:xfrm><a:off x="1335881" y="4379952"/><a:ext cx="2320052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0 prior stays → 8.4%</a:t></a:r><a:endParaRPr lang="en-US" sz="1950" dirty="0"/></a:p></p:txBody></p:sp><p:sp><p:nvSpPr><p:cNvPr id="9" name="Shape 6"/><p:cNvSpPr/><p:nvPr/></p:nvSpPr><p:spPr><a:xfrm><a:off x="1129903" y="5094446"/><a:ext cx="2900124" cy="722114"/></a:xfrm><a:prstGeom prst="roundRect"><a:avLst><a:gd name="adj" fmla="val 8075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10" name="Text 7"/><p:cNvSpPr/><p:nvPr/></p:nvSpPr><p:spPr><a:xfrm><a:off x="1335881" y="5300424"/><a:ext cx="2694146" cy="620316"/></a:xfrm><a:prstGeom prst="rect"><a:avLst/></a:prstGeom><a:noFill/><a:ln/></p:spPr><p:txBody><a:bodyPr wrap="squar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4+ prior stays → 30.7%</a:t></a:r><a:endParaRPr lang="en-US" sz="1950" dirty="0"/></a:p></p:txBody></p:sp><p:pic><p:nvPicPr><p:cNvPr id="12" name="Picture 11"><a:extLst><a:ext uri="{FF2B5EF4-FFF2-40B4-BE49-F238E27FC236}"><a16:creationId xmlns:a16="http://schemas.microsoft.com/office/drawing/2014/main" id="{685321F9-F358-12B8-7F59-DCAEF9ACC721}"/></a:ext></a:extLst></p:cNvPr><p:cNvPicPr><a:picLocks noChangeAspect="1"/></p:cNvPicPr><p:nvPr/></p:nvPicPr><p:blipFill><a:blip r:embed="rId3"/><a:stretch><a:fillRect/></a:stretch></p:blipFill><p:spPr><a:xfrm><a:off x="5302091" y="2146379"/><a:ext cx="8604647" cy="4467146"/></a:xfrm><a:prstGeom prst="rect"><a:avLst/></a:prstGeom></p:spPr></p:pic></p:spTree></p:cSld><p:clrMapOvr><a:masterClrMapping/></p:clrMapOvr></p:sld>
</file>

<file path=ppt/slides/slide8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8"><p:spTree><p:nvGrpSpPr><p:cNvPr id="1" name=""/><p:cNvGrpSpPr/><p:nvPr/></p:nvGrpSpPr><p:grpSpPr><a:xfrm><a:off x="0" y="0"/><a:ext cx="0" cy="0"/><a:chOff x="0" y="0"/><a:chExt cx="0" cy="0"/></a:xfrm></p:grpSpPr><p:sp><p:nvSpPr><p:cNvPr id="3" name="Shape 0"/><p:cNvSpPr/><p:nvPr/></p:nvSpPr><p:spPr><a:xfrm><a:off x="793790" y="625912"/><a:ext cx="2710458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4" name="Text 1"/><p:cNvSpPr/><p:nvPr/></p:nvSpPr><p:spPr><a:xfrm><a:off x="912852" y="685443"/><a:ext cx="2472333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EDA  -  ADMISSION &amp; DISCHARGE</a:t></a:r><a:endParaRPr lang="en-US" sz="1250" dirty="0"/></a:p></p:txBody></p:sp><p:sp><p:nvSpPr><p:cNvPr id="5" name="Text 2"/><p:cNvSpPr/><p:nvPr/></p:nvSpPr><p:spPr><a:xfrm><a:off x="793790" y="1078349"/><a:ext cx="7208996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Admission &amp; Discharge Patterns</a:t></a:r><a:endParaRPr lang="en-US" sz="3900" dirty="0"/></a:p></p:txBody></p:sp><p:sp><p:nvSpPr><p:cNvPr id="6" name="Text 3"/><p:cNvSpPr/><p:nvPr/></p:nvSpPr><p:spPr><a:xfrm><a:off x="793790" y="2194441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Discharge Disposition</a:t></a:r><a:endParaRPr lang="en-US" sz="1950" dirty="0"/></a:p></p:txBody></p:sp><p:sp><p:nvSpPr><p:cNvPr id="7" name="Text 4"/><p:cNvSpPr/><p:nvPr/></p:nvSpPr><p:spPr><a:xfrm><a:off x="793790" y="2581037"/><a:ext cx="3536156" cy="190523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Transfers to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Rehab Facilities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(27.7%) and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Inpatient Institutions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(20.9%) carry 2–2.5× the average readmission rate. Patients simply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discharged to home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have the lowest rate at 9.3%  below the 11.2% overall average.</a:t></a:r><a:endParaRPr lang="en-US" sz="1550" dirty="0"/></a:p></p:txBody></p:sp><p:sp><p:nvSpPr><p:cNvPr id="8" name="Text 5"/><p:cNvSpPr/><p:nvPr/></p:nvSpPr><p:spPr><a:xfrm><a:off x="796409" y="5055632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Admission Source</a:t></a:r><a:endParaRPr lang="en-US" sz="1950" dirty="0"/></a:p></p:txBody></p:sp><p:sp><p:nvSpPr><p:cNvPr id="9" name="Text 6"/><p:cNvSpPr/><p:nvPr/></p:nvSpPr><p:spPr><a:xfrm><a:off x="796409" y="5380910"/><a:ext cx="3536156" cy="222277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The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Emergency Room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is the largest admission source (n=57,494) with a slightly above-average readmission rate of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11.7%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. Transfers from SNF show 11.8%. Physician Referral (10.6%) and other transfers are below average.</a:t></a:r><a:endParaRPr lang="en-US" sz="1550" dirty="0"/></a:p></p:txBody></p:sp><p:pic><p:nvPicPr><p:cNvPr id="11" name="Picture 10"><a:extLst><a:ext uri="{FF2B5EF4-FFF2-40B4-BE49-F238E27FC236}"><a16:creationId xmlns:a16="http://schemas.microsoft.com/office/drawing/2014/main" id="{4CF85BC8-B710-9798-107A-3D8FD87B3DCF}"/></a:ext></a:extLst></p:cNvPr><p:cNvPicPr><a:picLocks noChangeAspect="1"/></p:cNvPicPr><p:nvPr/></p:nvPicPr><p:blipFill><a:blip r:embed="rId3"/><a:stretch><a:fillRect/></a:stretch></p:blipFill><p:spPr><a:xfrm><a:off x="4592591" y="2194441"/><a:ext cx="9521554" cy="5156835"/></a:xfrm><a:prstGeom prst="rect"><a:avLst/></a:prstGeom></p:spPr></p:pic></p:spTree></p:cSld><p:clrMapOvr><a:masterClrMapping/></p:clrMapOvr></p:sld>
</file>

<file path=ppt/slides/slide9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9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24733" y="800338"/><a:ext cx="2631519" cy="330279"/></a:xfrm><a:prstGeom prst="roundRect"><a:avLst><a:gd name="adj" fmla="val 18433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833437" y="854631"/><a:ext cx="2414111" cy="221694"/></a:xfrm><a:prstGeom prst="rect"><a:avLst/></a:prstGeom><a:noFill/><a:ln/></p:spPr><p:txBody><a:bodyPr wrap="none" lIns="0" tIns="0" rIns="0" bIns="0" rtlCol="0" anchor="t"/><a:lstStyle/><a:p><a:pPr marL="0" indent="0" algn="l"><a:lnSpc><a:spcPts val="1700"/></a:lnSpc><a:buNone/></a:pPr><a:r><a:rPr lang="en-US" sz="1100" dirty="0"><a:solidFill><a:srgbClr val="443728"/></a:solidFill><a:latin typeface="Open Sans" pitchFamily="34" charset="0"/><a:ea typeface="Open Sans" pitchFamily="34" charset="-122"/><a:cs typeface="Open Sans" pitchFamily="34" charset="-120"/></a:rPr><a:t>EDA  -  CLINICAL &amp; DEMOGRAPHICS</a:t></a:r><a:endParaRPr lang="en-US" sz="1100" dirty="0"/></a:p></p:txBody></p:sp><p:sp><p:nvSpPr><p:cNvPr id="4" name="Text 2"/><p:cNvSpPr/><p:nvPr/></p:nvSpPr><p:spPr><a:xfrm><a:off x="724733" y="1196697"/><a:ext cx="7382232" cy="566261"/></a:xfrm><a:prstGeom prst="rect"><a:avLst/></a:prstGeom><a:noFill/><a:ln/></p:spPr><p:txBody><a:bodyPr wrap="none" lIns="0" tIns="0" rIns="0" bIns="0" rtlCol="0" anchor="t"/><a:lstStyle/><a:p><a:pPr marL="0" indent="0" algn="l"><a:lnSpc><a:spcPts val="4450"/></a:lnSpc><a:buNone/></a:pPr><a:r><a:rPr lang="en-US" sz="35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Clinical Complexity &amp; Demographics</a:t></a:r><a:endParaRPr lang="en-US" sz="3550" dirty="0"/></a:p></p:txBody></p:sp><p:sp><p:nvSpPr><p:cNvPr id="6" name="Text 3"/><p:cNvSpPr/><p:nvPr/></p:nvSpPr><p:spPr><a:xfrm><a:off x="8392477" y="2176463"/><a:ext cx="2264807" cy="283012"/></a:xfrm><a:prstGeom prst="rect"><a:avLst/></a:prstGeom><a:noFill/><a:ln/></p:spPr><p:txBody><a:bodyPr wrap="none" lIns="0" tIns="0" rIns="0" bIns="0" rtlCol="0" anchor="t"/><a:lstStyle/><a:p><a:pPr marL="0" indent="0" algn="l"><a:lnSpc><a:spcPts val="2200"/></a:lnSpc><a:buNone/></a:pPr><a:r><a:rPr lang="en-US" sz="17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Medical Specialty</a:t></a:r><a:endParaRPr lang="en-US" sz="1750" dirty="0"/></a:p></p:txBody></p:sp><p:sp><p:nvSpPr><p:cNvPr id="7" name="Text 4"/><p:cNvSpPr/><p:nvPr/></p:nvSpPr><p:spPr><a:xfrm><a:off x="8392477" y="2624852"/><a:ext cx="5688330" cy="831890"/></a:xfrm><a:prstGeom prst="rect"><a:avLst/></a:prstGeom><a:noFill/><a:ln/></p:spPr><p:txBody><a:bodyPr wrap="square" lIns="0" tIns="0" rIns="0" bIns="0" rtlCol="0" anchor="t"/><a:lstStyle/><a:p><a:pPr marL="0" indent="0" algn="l"><a:lnSpc><a:spcPts val="2150"/></a:lnSpc><a:buNone/></a:pPr><a:r><a:rPr lang="en-US" sz="1400" b="1" dirty="0"><a:solidFill><a:srgbClr val="443728"/></a:solidFill><a:latin typeface="Open Sans" pitchFamily="34" charset="0"/><a:ea typeface="Open Sans" pitchFamily="34" charset="-122"/><a:cs typeface="Open Sans" pitchFamily="34" charset="-120"/></a:rPr><a:t>Nephrology</a:t></a:r><a:r><a:rPr lang="en-US" sz="1400" dirty="0"><a:solidFill><a:srgbClr val="443728"/></a:solidFill><a:latin typeface="Open Sans" pitchFamily="34" charset="0"/><a:ea typeface="Open Sans" pitchFamily="34" charset="-122"/><a:cs typeface="Open Sans" pitchFamily="34" charset="-120"/></a:rPr><a:t> leads at 15.4%, followed by Vascular Surgery (13.9%) and Psychiatry (12.2%). Cardiology is notably below average at 7.9%, likely reflecting well-structured cardiac care protocols.</a:t></a:r><a:endParaRPr lang="en-US" sz="1400" dirty="0"/></a:p></p:txBody></p:sp><p:sp><p:nvSpPr><p:cNvPr id="8" name="Shape 5"/><p:cNvSpPr/><p:nvPr/></p:nvSpPr><p:spPr><a:xfrm><a:off x="8377237" y="3733378"/><a:ext cx="5688330" cy="30242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9" name="Text 6"/><p:cNvSpPr/><p:nvPr/></p:nvSpPr><p:spPr><a:xfrm><a:off x="8392477" y="3949660"/><a:ext cx="2264807" cy="283012"/></a:xfrm><a:prstGeom prst="rect"><a:avLst/></a:prstGeom><a:noFill/><a:ln/></p:spPr><p:txBody><a:bodyPr wrap="none" lIns="0" tIns="0" rIns="0" bIns="0" rtlCol="0" anchor="t"/><a:lstStyle/><a:p><a:pPr marL="0" indent="0" algn="l"><a:lnSpc><a:spcPts val="2200"/></a:lnSpc><a:buNone/></a:pPr><a:r><a:rPr lang="en-US" sz="17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Primary Diagnosis</a:t></a:r><a:endParaRPr lang="en-US" sz="1750" dirty="0"/></a:p></p:txBody></p:sp><p:sp><p:nvSpPr><p:cNvPr id="10" name="Text 7"/><p:cNvSpPr/><p:nvPr/></p:nvSpPr><p:spPr><a:xfrm><a:off x="8392477" y="4398050"/><a:ext cx="5688330" cy="1109186"/></a:xfrm><a:prstGeom prst="rect"><a:avLst/></a:prstGeom><a:noFill/><a:ln/></p:spPr><p:txBody><a:bodyPr wrap="square" lIns="0" tIns="0" rIns="0" bIns="0" rtlCol="0" anchor="t"/><a:lstStyle/><a:p><a:pPr marL="0" indent="0" algn="l"><a:lnSpc><a:spcPts val="2150"/></a:lnSpc><a:buNone/></a:pPr><a:r><a:rPr lang="en-US" sz="1400" dirty="0"><a:solidFill><a:srgbClr val="443728"/></a:solidFill><a:latin typeface="Open Sans" pitchFamily="34" charset="0"/><a:ea typeface="Open Sans" pitchFamily="34" charset="-122"/><a:cs typeface="Open Sans" pitchFamily="34" charset="-120"/></a:rPr><a:t>Encounters where </a:t></a:r><a:r><a:rPr lang="en-US" sz="1400" b="1" dirty="0"><a:solidFill><a:srgbClr val="443728"/></a:solidFill><a:latin typeface="Open Sans" pitchFamily="34" charset="0"/><a:ea typeface="Open Sans" pitchFamily="34" charset="-122"/><a:cs typeface="Open Sans" pitchFamily="34" charset="-120"/></a:rPr><a:t>Diabetes is the primary diagnosis</a:t></a:r><a:r><a:rPr lang="en-US" sz="1400" dirty="0"><a:solidFill><a:srgbClr val="443728"/></a:solidFill><a:latin typeface="Open Sans" pitchFamily="34" charset="0"/><a:ea typeface="Open Sans" pitchFamily="34" charset="-122"/><a:cs typeface="Open Sans" pitchFamily="34" charset="-120"/></a:rPr><a:t> (ICD-9 250.xx) carry a 13.0% readmission rate  -  16% above the overall average. Circulatory diagnoses are the largest group (30,437 encounters) at 11.5%.</a:t></a:r><a:endParaRPr lang="en-US" sz="1400" dirty="0"/></a:p></p:txBody></p:sp><p:sp><p:nvSpPr><p:cNvPr id="11" name="Shape 8"/><p:cNvSpPr/><p:nvPr/></p:nvSpPr><p:spPr><a:xfrm><a:off x="8377237" y="5783873"/><a:ext cx="5688330" cy="30242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12" name="Text 9"/><p:cNvSpPr/><p:nvPr/></p:nvSpPr><p:spPr><a:xfrm><a:off x="8392477" y="6000155"/><a:ext cx="2264807" cy="283012"/></a:xfrm><a:prstGeom prst="rect"><a:avLst/></a:prstGeom><a:noFill/><a:ln/></p:spPr><p:txBody><a:bodyPr wrap="none" lIns="0" tIns="0" rIns="0" bIns="0" rtlCol="0" anchor="t"/><a:lstStyle/><a:p><a:pPr marL="0" indent="0" algn="l"><a:lnSpc><a:spcPts val="2200"/></a:lnSpc><a:buNone/></a:pPr><a:r><a:rPr lang="en-US" sz="17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Demographics</a:t></a:r><a:endParaRPr lang="en-US" sz="1750" dirty="0"/></a:p></p:txBody></p:sp><p:sp><p:nvSpPr><p:cNvPr id="13" name="Text 10"/><p:cNvSpPr/><p:nvPr/></p:nvSpPr><p:spPr><a:xfrm><a:off x="8392477" y="6448544"/><a:ext cx="5688330" cy="831890"/></a:xfrm><a:prstGeom prst="rect"><a:avLst/></a:prstGeom><a:noFill/><a:ln/></p:spPr><p:txBody><a:bodyPr wrap="square" lIns="0" tIns="0" rIns="0" bIns="0" rtlCol="0" anchor="t"/><a:lstStyle/><a:p><a:pPr marL="0" indent="0" algn="l"><a:lnSpc><a:spcPts val="2150"/></a:lnSpc><a:buNone/></a:pPr><a:r><a:rPr lang="en-US" sz="1400" dirty="0"><a:solidFill><a:srgbClr val="443728"/></a:solidFill><a:latin typeface="Open Sans" pitchFamily="34" charset="0"/><a:ea typeface="Open Sans" pitchFamily="34" charset="-122"/><a:cs typeface="Open Sans" pitchFamily="34" charset="-120"/></a:rPr><a:t>Patient volume is concentrated in the </a:t></a:r><a:r><a:rPr lang="en-US" sz="1400" b="1" dirty="0"><a:solidFill><a:srgbClr val="443728"/></a:solidFill><a:latin typeface="Open Sans" pitchFamily="34" charset="0"/><a:ea typeface="Open Sans" pitchFamily="34" charset="-122"/><a:cs typeface="Open Sans" pitchFamily="34" charset="-120"/></a:rPr><a:t>60–80 age range</a:t></a:r><a:r><a:rPr lang="en-US" sz="1400" dirty="0"><a:solidFill><a:srgbClr val="443728"/></a:solidFill><a:latin typeface="Open Sans" pitchFamily="34" charset="0"/><a:ea typeface="Open Sans" pitchFamily="34" charset="-122"/><a:cs typeface="Open Sans" pitchFamily="34" charset="-120"/></a:rPr><a:t>. Age, race, and gender show minimal standalone variation  -  all readmission rates fall within 9.8–11.3%.</a:t></a:r><a:endParaRPr lang="en-US" sz="1400" dirty="0"/></a:p></p:txBody></p:sp><p:pic><p:nvPicPr><p:cNvPr id="15" name="Picture 14"><a:extLst><a:ext uri="{FF2B5EF4-FFF2-40B4-BE49-F238E27FC236}"><a16:creationId xmlns:a16="http://schemas.microsoft.com/office/drawing/2014/main" id="{EC87C23F-15A9-823C-08E4-0D8DD65AF0EC}"/></a:ext></a:extLst></p:cNvPr><p:cNvPicPr><a:picLocks noChangeAspect="1"/></p:cNvPicPr><p:nvPr/></p:nvPicPr><p:blipFill><a:blip r:embed="rId3"/><a:stretch><a:fillRect/></a:stretch></p:blipFill><p:spPr><a:xfrm><a:off x="549593" y="2117885"/><a:ext cx="7557372" cy="5410913"/></a:xfrm><a:prstGeom prst="rect"><a:avLst/></a:prstGeom></p:spPr></p:pic></p:spTree></p:cSld><p:clrMapOvr><a:masterClrMapping/></p:clrMapOvr></p:sld>
</file>

<file path=ppt/slides/slide10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0"><p:spTree><p:nvGrpSpPr><p:cNvPr id="1" name=""/><p:cNvGrpSpPr/><p:nvPr/></p:nvGrpSpPr><p:grpSpPr><a:xfrm><a:off x="0" y="0"/><a:ext cx="0" cy="0"/><a:chOff x="0" y="0"/><a:chExt cx="0" cy="0"/></a:xfrm></p:grpSpPr><p:sp><p:nvSpPr><p:cNvPr id="3" name="Shape 0"/><p:cNvSpPr/><p:nvPr/></p:nvSpPr><p:spPr><a:xfrm><a:off x="6615470" y="878681"/><a:ext cx="1835468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4" name="Text 1"/><p:cNvSpPr/><p:nvPr/></p:nvSpPr><p:spPr><a:xfrm><a:off x="6734532" y="938213"/><a:ext cx="1597343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EDA  -  MEDICATIONS</a:t></a:r><a:endParaRPr lang="en-US" sz="1250" dirty="0"/></a:p></p:txBody></p:sp><p:sp><p:nvSpPr><p:cNvPr id="5" name="Text 2"/><p:cNvSpPr/><p:nvPr/></p:nvSpPr><p:spPr><a:xfrm><a:off x="6615470" y="1331119"/><a:ext cx="7556421" cy="1240155"/></a:xfrm><a:prstGeom prst="rect"><a:avLst/></a:prstGeom><a:noFill/><a:ln/></p:spPr><p:txBody><a:bodyPr wrap="squar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Diabetes Medication Management</a:t></a:r><a:endParaRPr lang="en-US" sz="3900" dirty="0"/></a:p></p:txBody></p:sp><p:sp><p:nvSpPr><p:cNvPr id="6" name="Shape 3"/><p:cNvSpPr/><p:nvPr/></p:nvSpPr><p:spPr><a:xfrm><a:off x="6615470" y="2868930"/><a:ext cx="3679031" cy="2459355"/></a:xfrm><a:prstGeom prst="roundRect"><a:avLst><a:gd name="adj" fmla="val 3389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7" name="Text 4"/><p:cNvSpPr/><p:nvPr/></p:nvSpPr><p:spPr><a:xfrm><a:off x="6836688" y="3090148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Insulin (+2.1pp)</a:t></a:r><a:endParaRPr lang="en-US" sz="1950" dirty="0"/></a:p></p:txBody></p:sp><p:sp><p:nvSpPr><p:cNvPr id="8" name="Text 5"/><p:cNvSpPr/><p:nvPr/></p:nvSpPr><p:spPr><a:xfrm><a:off x="6836688" y="3519368"/><a:ext cx="3236595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Used in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53.4%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of encounters. Associated with a higher readmission rate (12.1% vs. 10.0%)  -  insulin-dependent patients are more severely ill.</a:t></a:r><a:endParaRPr lang="en-US" sz="1550" dirty="0"/></a:p></p:txBody></p:sp><p:sp><p:nvSpPr><p:cNvPr id="9" name="Shape 6"/><p:cNvSpPr/><p:nvPr/></p:nvSpPr><p:spPr><a:xfrm><a:off x="10492859" y="2868930"/><a:ext cx="3679031" cy="2459355"/></a:xfrm><a:prstGeom prst="roundRect"><a:avLst><a:gd name="adj" fmla="val 3389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10" name="Text 7"/><p:cNvSpPr/><p:nvPr/></p:nvSpPr><p:spPr><a:xfrm><a:off x="10714077" y="3090148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Metformin (−1.8pp)</a:t></a:r><a:endParaRPr lang="en-US" sz="1950" dirty="0"/></a:p></p:txBody></p:sp><p:sp><p:nvSpPr><p:cNvPr id="11" name="Text 8"/><p:cNvSpPr/><p:nvPr/></p:nvSpPr><p:spPr><a:xfrm><a:off x="10714077" y="3519368"/><a:ext cx="3236595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Associated with a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lower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readmission rate (9.7% vs. 11.5%), consistent with its role as first-line therapy for well-controlled Type 2 diabetes.</a:t></a:r><a:endParaRPr lang="en-US" sz="1550" dirty="0"/></a:p></p:txBody></p:sp><p:sp><p:nvSpPr><p:cNvPr id="12" name="Shape 9"/><p:cNvSpPr/><p:nvPr/></p:nvSpPr><p:spPr><a:xfrm><a:off x="6615470" y="5526643"/><a:ext cx="7556421" cy="1824276"/></a:xfrm><a:prstGeom prst="roundRect"><a:avLst><a:gd name="adj" fmla="val 4569"/></a:avLst></a:prstGeom><a:solidFill><a:srgbClr val="FFFCFA"/></a:solidFill><a:ln w="22860"><a:solidFill><a:srgbClr val="D1C8C6"/></a:solidFill><a:prstDash val="solid"/></a:ln></p:spPr><p:txBody><a:bodyPr/><a:lstStyle/><a:p><a:endParaRPr lang="en-IN"/></a:p></p:txBody></p:sp><p:sp><p:nvSpPr><p:cNvPr id="13" name="Text 10"/><p:cNvSpPr/><p:nvPr/></p:nvSpPr><p:spPr><a:xfrm><a:off x="6836688" y="5747861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Medication Changes</a:t></a:r><a:endParaRPr lang="en-US" sz="1950" dirty="0"/></a:p></p:txBody></p:sp><p:sp><p:nvSpPr><p:cNvPr id="14" name="Text 11"/><p:cNvSpPr/><p:nvPr/></p:nvSpPr><p:spPr><a:xfrm><a:off x="6836688" y="6177082"/><a:ext cx="7113984" cy="95261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Patients with any dosage change ("Ch") show a slightly elevated readmission rate (11.8% vs. 9.6% for no change / no diabetes med), suggesting active management occurs in more complex cases.</a:t></a:r><a:endParaRPr lang="en-US" sz="1550" dirty="0"/></a:p></p:txBody></p:sp><p:pic><p:nvPicPr><p:cNvPr id="16" name="Picture 15"><a:extLst><a:ext uri="{FF2B5EF4-FFF2-40B4-BE49-F238E27FC236}"><a16:creationId xmlns:a16="http://schemas.microsoft.com/office/drawing/2014/main" id="{21F79DF1-19D8-DA37-FDB6-6A7555450A84}"/></a:ext></a:extLst></p:cNvPr><p:cNvPicPr><a:picLocks noChangeAspect="1"/></p:cNvPicPr><p:nvPr/></p:nvPicPr><p:blipFill><a:blip r:embed="rId3"/><a:stretch><a:fillRect/></a:stretch></p:blipFill><p:spPr><a:xfrm><a:off x="800725" y="938212"/><a:ext cx="5233907" cy="3176587"/></a:xfrm><a:prstGeom prst="rect"><a:avLst/></a:prstGeom></p:spPr></p:pic><p:pic><p:nvPicPr><p:cNvPr id="18" name="Picture 17"><a:extLst><a:ext uri="{FF2B5EF4-FFF2-40B4-BE49-F238E27FC236}"><a16:creationId xmlns:a16="http://schemas.microsoft.com/office/drawing/2014/main" id="{AE41D510-5AD4-4C88-FC74-905B34B660AD}"/></a:ext></a:extLst></p:cNvPr><p:cNvPicPr><a:picLocks noChangeAspect="1"/></p:cNvPicPr><p:nvPr/></p:nvPicPr><p:blipFill><a:blip r:embed="rId4"/><a:stretch><a:fillRect/></a:stretch></p:blipFill><p:spPr><a:xfrm><a:off x="800726" y="4426358"/><a:ext cx="5233906" cy="3284435"/></a:xfrm><a:prstGeom prst="rect"><a:avLst/></a:prstGeom></p:spPr></p:pic></p:spTree></p:cSld><p:clrMapOvr><a:masterClrMapping/></p:clrMapOvr></p:sld>
</file>

<file path=ppt/slides/slide11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1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1105376" y="972979"/><a:ext cx="1462445" cy="275034"/></a:xfrm><a:prstGeom prst="roundRect"><a:avLst><a:gd name="adj" fmla="val 19241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1199793" y="1020128"/><a:ext cx="1273612" cy="180737"/></a:xfrm><a:prstGeom prst="rect"><a:avLst/></a:prstGeom><a:noFill/><a:ln/></p:spPr><p:txBody><a:bodyPr wrap="none" lIns="0" tIns="0" rIns="0" bIns="0" rtlCol="0" anchor="t"/><a:lstStyle/><a:p><a:pPr marL="0" indent="0" algn="l"><a:lnSpc><a:spcPts val="1400"/></a:lnSpc><a:buNone/></a:pPr><a:r><a:rPr lang="en-US" sz="950" dirty="0"><a:solidFill><a:srgbClr val="443728"/></a:solidFill><a:latin typeface="Open Sans" pitchFamily="34" charset="0"/><a:ea typeface="Open Sans" pitchFamily="34" charset="-122"/><a:cs typeface="Open Sans" pitchFamily="34" charset="-120"/></a:rPr><a:t>HYPOTHESIS TESTING</a:t></a:r><a:endParaRPr lang="en-US" sz="950" dirty="0"/></a:p></p:txBody></p:sp><p:sp><p:nvSpPr><p:cNvPr id="4" name="Text 2"/><p:cNvSpPr/><p:nvPr/></p:nvSpPr><p:spPr><a:xfrm><a:off x="1105376" y="1328380"/><a:ext cx="5270897" cy="492085"/></a:xfrm><a:prstGeom prst="rect"><a:avLst/></a:prstGeom><a:noFill/><a:ln/></p:spPr><p:txBody><a:bodyPr wrap="none" lIns="0" tIns="0" rIns="0" bIns="0" rtlCol="0" anchor="t"/><a:lstStyle/><a:p><a:pPr marL="0" indent="0" algn="l"><a:lnSpc><a:spcPts val="3850"/></a:lnSpc><a:buNone/></a:pPr><a:r><a:rPr lang="en-US" sz="31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Statistical Testing Framework</a:t></a:r><a:endParaRPr lang="en-US" sz="3100" dirty="0"/></a:p></p:txBody></p:sp><p:sp><p:nvSpPr><p:cNvPr id="5" name="Text 3"/><p:cNvSpPr/><p:nvPr/></p:nvSpPr><p:spPr><a:xfrm><a:off x="1105376" y="2102287"/><a:ext cx="1968698" cy="24610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Data Validity Check</a:t></a:r><a:endParaRPr lang="en-US" sz="2000" dirty="0"/></a:p></p:txBody></p:sp><p:sp><p:nvSpPr><p:cNvPr id="6" name="Text 4"/><p:cNvSpPr/><p:nvPr/></p:nvSpPr><p:spPr><a:xfrm><a:off x="1105376" y="2473285"/><a:ext cx="6017776" cy="677942"/></a:xfrm><a:prstGeom prst="rect"><a:avLst/></a:prstGeom><a:noFill/><a:ln/></p:spPr><p:txBody><a:bodyPr wrap="square" lIns="0" tIns="0" rIns="0" bIns="0" rtlCol="0" anchor="t"/><a:lstStyle/><a:p><a:pPr marL="0" indent="0" algn="l"><a:lnSpc><a:spcPts val="175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Before testing,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2,423 logically impossible readmission records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were excluded  -  patients with discharge dispositions of Expired or Hospice cannot be readmitted. Analysis sample: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99,343 rows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, readmission rate 11.39%.</a:t></a:r><a:endParaRPr lang="en-US" sz="1600" dirty="0"/></a:p></p:txBody></p:sp><p:sp><p:nvSpPr><p:cNvPr id="7" name="Shape 5"/><p:cNvSpPr/><p:nvPr/></p:nvSpPr><p:spPr><a:xfrm><a:off x="1105376" y="4315266"/><a:ext cx="6017776" cy="27265"/></a:xfrm><a:prstGeom prst="rect"><a:avLst/></a:prstGeom><a:solidFill><a:srgbClr val="443728"><a:alpha val="50000"/></a:srgbClr></a:solidFill><a:ln/></p:spPr><p:txBody><a:bodyPr/><a:lstStyle/><a:p><a:endParaRPr lang="en-IN" sz="2400"/></a:p></p:txBody></p:sp><p:sp><p:nvSpPr><p:cNvPr id="8" name="Text 6"/><p:cNvSpPr/><p:nvPr/></p:nvSpPr><p:spPr><a:xfrm><a:off x="1105376" y="4482940"/><a:ext cx="3298984" cy="353581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Test Selection Logic</a:t></a:r><a:endParaRPr lang="en-US" sz="2000" dirty="0"/></a:p></p:txBody></p:sp><p:pic><p:nvPicPr><p:cNvPr id="9" name="Image 0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3"/></a:ext></a:extLst></a:blip><a:stretch><a:fillRect/></a:stretch></p:blipFill><p:spPr><a:xfrm><a:off x="1164431" y="4892635"/><a:ext cx="236220" cy="236220"/></a:xfrm><a:prstGeom prst="rect"><a:avLst/></a:prstGeom></p:spPr></p:pic><p:sp><p:nvSpPr><p:cNvPr id="10" name="Text 7"/><p:cNvSpPr/><p:nvPr/></p:nvSpPr><p:spPr><a:xfrm><a:off x="1617107" y="4869537"/><a:ext cx="5506045" cy="451961"/></a:xfrm><a:prstGeom prst="rect"><a:avLst/></a:prstGeom><a:noFill/><a:ln/></p:spPr><p:txBody><a:bodyPr wrap="squar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Continuous vs. binary target: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Normality tested via Shapiro-Wilk. Both groups failed normality →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Mann-Whitney U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(non-parametric).</a:t></a:r><a:endParaRPr lang="en-US" sz="1600" dirty="0"/></a:p></p:txBody></p:sp><p:pic><p:nvPicPr><p:cNvPr id="11" name="Image 1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3"/></a:ext></a:extLst></a:blip><a:stretch><a:fillRect/></a:stretch></p:blipFill><p:spPr><a:xfrm><a:off x="1164431" y="5607606"/><a:ext cx="236220" cy="236220"/></a:xfrm><a:prstGeom prst="rect"><a:avLst/></a:prstGeom></p:spPr></p:pic><p:sp><p:nvSpPr><p:cNvPr id="12" name="Text 8"/><p:cNvSpPr/><p:nvPr/></p:nvSpPr><p:spPr><a:xfrm><a:off x="1617107" y="5599748"/><a:ext cx="5506045" cy="451961"/></a:xfrm><a:prstGeom prst="rect"><a:avLst/></a:prstGeom><a:noFill/><a:ln/></p:spPr><p:txBody><a:bodyPr wrap="squar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Categorical vs. binary target: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Chi-Square Test of Independence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, with expected cell count verification.</a:t></a:r><a:endParaRPr lang="en-US" sz="1600" dirty="0"/></a:p></p:txBody></p:sp><p:sp><p:nvSpPr><p:cNvPr id="13" name="Text 9"/><p:cNvSpPr/><p:nvPr/></p:nvSpPr><p:spPr><a:xfrm><a:off x="7514868" y="1931076"/><a:ext cx="3229332" cy="417313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Four Planned Hypotheses</a:t></a:r><a:endParaRPr lang="en-US" sz="2000" dirty="0"/></a:p></p:txBody></p:sp><p:sp><p:nvSpPr><p:cNvPr id="14" name="Text 10"/><p:cNvSpPr/><p:nvPr/></p:nvSpPr><p:spPr><a:xfrm><a:off x="7514868" y="2351723"/><a:ext cx="157401" cy="196810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dirty="0"><a:solidFill><a:srgbClr val="443728"/></a:solidFill><a:latin typeface="Roboto Light" pitchFamily="34" charset="0"/><a:ea typeface="Roboto Light" pitchFamily="34" charset="-122"/><a:cs typeface="Roboto Light" pitchFamily="34" charset="-120"/></a:rPr><a:t>01</a:t></a:r><a:endParaRPr lang="en-US" sz="1600" dirty="0"/></a:p></p:txBody></p:sp><p:sp><p:nvSpPr><p:cNvPr id="15" name="Shape 11"/><p:cNvSpPr/><p:nvPr/></p:nvSpPr><p:spPr><a:xfrm><a:off x="7514868" y="2596396"/><a:ext cx="6017776" cy="22860"/></a:xfrm><a:prstGeom prst="rect"><a:avLst/></a:prstGeom><a:solidFill><a:srgbClr val="835E54"/></a:solidFill><a:ln/></p:spPr><p:txBody><a:bodyPr/><a:lstStyle/><a:p><a:endParaRPr lang="en-IN" sz="2400"/></a:p></p:txBody></p:sp><p:sp><p:nvSpPr><p:cNvPr id="16" name="Text 12"/><p:cNvSpPr/><p:nvPr/></p:nvSpPr><p:spPr><a:xfrm><a:off x="7514868" y="2720816"/><a:ext cx="6017776" cy="512410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H1  -  Prior Inpatient Utilisation: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</a:t></a:r></a:p><a:p><a:pPr marL="0" indent="0" algn="l"><a:lnSpc><a:spcPts val="175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More prior stays → higher readmission risk.</a:t></a:r><a:endParaRPr lang="en-US" sz="1600" dirty="0"/></a:p></p:txBody></p:sp><p:sp><p:nvSpPr><p:cNvPr id="17" name="Text 13"/><p:cNvSpPr/><p:nvPr/></p:nvSpPr><p:spPr><a:xfrm><a:off x="7514868" y="3326963"/><a:ext cx="157401" cy="196810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dirty="0"><a:solidFill><a:srgbClr val="443728"/></a:solidFill><a:latin typeface="Roboto Light" pitchFamily="34" charset="0"/><a:ea typeface="Roboto Light" pitchFamily="34" charset="-122"/><a:cs typeface="Roboto Light" pitchFamily="34" charset="-120"/></a:rPr><a:t>02</a:t></a:r><a:endParaRPr lang="en-US" sz="1600" dirty="0"/></a:p></p:txBody></p:sp><p:sp><p:nvSpPr><p:cNvPr id="18" name="Shape 14"/><p:cNvSpPr/><p:nvPr/></p:nvSpPr><p:spPr><a:xfrm><a:off x="7514868" y="3571637"/><a:ext cx="6017776" cy="22860"/></a:xfrm><a:prstGeom prst="rect"><a:avLst/></a:prstGeom><a:solidFill><a:srgbClr val="835E54"/></a:solidFill><a:ln/></p:spPr><p:txBody><a:bodyPr/><a:lstStyle/><a:p><a:endParaRPr lang="en-IN" sz="2400"/></a:p></p:txBody></p:sp><p:sp><p:nvSpPr><p:cNvPr id="19" name="Text 15"/><p:cNvSpPr/><p:nvPr/></p:nvSpPr><p:spPr><a:xfrm><a:off x="7514868" y="3696057"/><a:ext cx="6017776" cy="225981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H2  -  Length of Stay: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Longer stays → higher readmission risk.</a:t></a:r><a:endParaRPr lang="en-US" sz="1600" dirty="0"/></a:p></p:txBody></p:sp><p:sp><p:nvSpPr><p:cNvPr id="20" name="Text 16"/><p:cNvSpPr/><p:nvPr/></p:nvSpPr><p:spPr><a:xfrm><a:off x="7514868" y="4073604"/><a:ext cx="157401" cy="196810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dirty="0"><a:solidFill><a:srgbClr val="443728"/></a:solidFill><a:latin typeface="Roboto Light" pitchFamily="34" charset="0"/><a:ea typeface="Roboto Light" pitchFamily="34" charset="-122"/><a:cs typeface="Roboto Light" pitchFamily="34" charset="-120"/></a:rPr><a:t>03</a:t></a:r><a:endParaRPr lang="en-US" sz="1600" dirty="0"/></a:p></p:txBody></p:sp><p:sp><p:nvSpPr><p:cNvPr id="21" name="Shape 17"/><p:cNvSpPr/><p:nvPr/></p:nvSpPr><p:spPr><a:xfrm><a:off x="7514868" y="4318278"/><a:ext cx="6017776" cy="22860"/></a:xfrm><a:prstGeom prst="rect"><a:avLst/></a:prstGeom><a:solidFill><a:srgbClr val="835E54"/></a:solidFill><a:ln/></p:spPr><p:txBody><a:bodyPr/><a:lstStyle/><a:p><a:endParaRPr lang="en-IN" sz="2400"/></a:p></p:txBody></p:sp><p:sp><p:nvSpPr><p:cNvPr id="22" name="Text 18"/><p:cNvSpPr/><p:nvPr/></p:nvSpPr><p:spPr><a:xfrm><a:off x="7514868" y="4442698"/><a:ext cx="6017776" cy="225981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H3  -  Discharge Disposition: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</a:t></a:r></a:p><a:p><a:pPr marL="0" indent="0" algn="l"><a:lnSpc><a:spcPts val="175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Discharge type is associated with readmission.</a:t></a:r></a:p><a:p><a:pPr marL="0" indent="0" algn="l"><a:lnSpc><a:spcPts val="1750"/></a:lnSpc><a:buNone/></a:pPr><a:endParaRPr lang="en-US" sz="1600" dirty="0"><a:solidFill><a:srgbClr val="443728"/></a:solidFill><a:latin typeface="Open Sans" pitchFamily="34" charset="0"/><a:ea typeface="Open Sans" pitchFamily="34" charset="-122"/><a:cs typeface="Open Sans" pitchFamily="34" charset="-120"/></a:endParaRPr></a:p><a:p><a:pPr marL="0" indent="0" algn="l"><a:lnSpc><a:spcPts val="1750"/></a:lnSpc><a:buNone/></a:pPr><a:endParaRPr lang="en-US" sz="1600" dirty="0"/></a:p></p:txBody></p:sp><p:sp><p:nvSpPr><p:cNvPr id="23" name="Text 19"/><p:cNvSpPr/><p:nvPr/></p:nvSpPr><p:spPr><a:xfrm><a:off x="7514868" y="5064085"/><a:ext cx="157401" cy="196810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1600" dirty="0"><a:solidFill><a:srgbClr val="443728"/></a:solidFill><a:latin typeface="Roboto Light" pitchFamily="34" charset="0"/><a:ea typeface="Roboto Light" pitchFamily="34" charset="-122"/><a:cs typeface="Roboto Light" pitchFamily="34" charset="-120"/></a:rPr><a:t>04</a:t></a:r><a:endParaRPr lang="en-US" sz="1600" dirty="0"/></a:p></p:txBody></p:sp><p:sp><p:nvSpPr><p:cNvPr id="24" name="Shape 20"/><p:cNvSpPr/><p:nvPr/></p:nvSpPr><p:spPr><a:xfrm><a:off x="7514868" y="5308759"/><a:ext cx="6017776" cy="22860"/></a:xfrm><a:prstGeom prst="rect"><a:avLst/></a:prstGeom><a:solidFill><a:srgbClr val="835E54"/></a:solidFill><a:ln/></p:spPr><p:txBody><a:bodyPr/><a:lstStyle/><a:p><a:endParaRPr lang="en-IN" sz="2400"/></a:p></p:txBody></p:sp><p:sp><p:nvSpPr><p:cNvPr id="25" name="Text 21"/><p:cNvSpPr/><p:nvPr/></p:nvSpPr><p:spPr><a:xfrm><a:off x="7514868" y="5372219"/><a:ext cx="6017776" cy="451961"/></a:xfrm><a:prstGeom prst="rect"><a:avLst/></a:prstGeom><a:noFill/><a:ln/></p:spPr><p:txBody><a:bodyPr wrap="square" lIns="0" tIns="0" rIns="0" bIns="0" rtlCol="0" anchor="t"/><a:lstStyle/><a:p><a:pPr marL="0" indent="0" algn="l"><a:lnSpc><a:spcPts val="17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H4  -  Medication Change: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Medication change status is associated with readmission.</a:t></a:r><a:endParaRPr lang="en-US" sz="1600" dirty="0"/></a:p></p:txBody></p:sp><p:sp><p:nvSpPr><p:cNvPr id="26" name="Shape 22"/><p:cNvSpPr/><p:nvPr/></p:nvSpPr><p:spPr><a:xfrm><a:off x="7514868" y="6082784"/><a:ext cx="6017776" cy="1033224"/></a:xfrm><a:prstGeom prst="roundRect"><a:avLst><a:gd name="adj" fmla="val 6402"/></a:avLst></a:prstGeom><a:solidFill><a:srgbClr val="E1D4D0"/></a:solidFill><a:ln/></p:spPr><p:txBody><a:bodyPr/><a:lstStyle/><a:p><a:endParaRPr lang="en-IN" sz="2400"/></a:p></p:txBody></p:sp><p:pic><p:nvPicPr><p:cNvPr id="27" name="Image 2" descr="preencoded.png"/><p:cNvPicPr><a:picLocks noChangeAspect="1"/></p:cNvPicPr><p:nvPr/></p:nvPicPr><p:blipFill><a:blip r:embed="rId4"/><a:stretch><a:fillRect/></a:stretch></p:blipFill><p:spPr><a:xfrm><a:off x="7672268" y="6309360"/><a:ext cx="196810" cy="157401"/></a:xfrm><a:prstGeom prst="rect"><a:avLst/></a:prstGeom></p:spPr></p:pic><p:sp><p:nvSpPr><p:cNvPr id="28" name="Text 23"/><p:cNvSpPr/><p:nvPr/></p:nvSpPr><p:spPr><a:xfrm><a:off x="8026479" y="6246971"/><a:ext cx="5348764" cy="677942"/></a:xfrm><a:prstGeom prst="rect"><a:avLst/></a:prstGeom><a:noFill/><a:ln/></p:spPr><p:txBody><a:bodyPr wrap="square" lIns="0" tIns="0" rIns="0" bIns="0" rtlCol="0" anchor="t"/><a:lstStyle/><a:p><a:pPr marL="0" indent="0" algn="l"><a:lnSpc><a:spcPts val="1750"/></a:lnSpc><a:buNone/></a:pPr><a:r><a:rPr lang="en-US" sz="1600" dirty="0"><a:solidFill><a:srgbClr val="000000"/></a:solidFill><a:latin typeface="Open Sans" pitchFamily="34" charset="0"/><a:ea typeface="Open Sans" pitchFamily="34" charset="-122"/><a:cs typeface="Open Sans" pitchFamily="34" charset="-120"/></a:rPr><a:t>Effect sizes (Cliff's Delta, Cramer's V) are prioritized alongside p-values because large sample sizes can make tiny differences statistically significant.</a:t></a:r><a:endParaRPr lang="en-US" sz="1600" dirty="0"/></a:p></p:txBody></p:sp></p:spTree></p:cSld><p:clrMapOvr><a:masterClrMapping/></p:clrMapOvr></p:sld>
</file>

<file path=ppt/slides/slide12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2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1301472"/><a:ext cx="1861304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852" y="1361003"/><a:ext cx="1623179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HYPOTHESIS RESULTS</a:t></a:r><a:endParaRPr lang="en-US" sz="1250" dirty="0"/></a:p></p:txBody></p:sp><p:sp><p:nvSpPr><p:cNvPr id="4" name="Text 2"/><p:cNvSpPr/><p:nvPr/></p:nvSpPr><p:spPr><a:xfrm><a:off x="793790" y="1753910"/><a:ext cx="8178284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H1 &amp; H2: Utilisation &amp; Length of Stay</a:t></a:r><a:endParaRPr lang="en-US" sz="3900" dirty="0"/></a:p></p:txBody></p:sp><p:sp><p:nvSpPr><p:cNvPr id="5" name="Shape 3"/><p:cNvSpPr/><p:nvPr/></p:nvSpPr><p:spPr><a:xfrm><a:off x="650915" y="2671643"/><a:ext cx="6565106" cy="4256484"/></a:xfrm><a:prstGeom prst="roundRect"><a:avLst><a:gd name="adj" fmla="val 3357"/></a:avLst></a:prstGeom><a:solidFill><a:srgbClr val="835E54"/></a:solidFill><a:ln/></p:spPr><p:txBody><a:bodyPr/><a:lstStyle/><a:p><a:endParaRPr lang="en-IN"/></a:p></p:txBody></p:sp><p:sp><p:nvSpPr><p:cNvPr id="6" name="Text 4"/><p:cNvSpPr/><p:nvPr/></p:nvSpPr><p:spPr><a:xfrm><a:off x="849273" y="2870002"/><a:ext cx="4880848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H1  -  Prior Inpatient Utilisation ✓ Supported</a:t></a:r><a:endParaRPr lang="en-US" sz="1950" dirty="0"/></a:p></p:txBody></p:sp><p:sp><p:nvSpPr><p:cNvPr id="7" name="Text 5"/><p:cNvSpPr/><p:nvPr/></p:nvSpPr><p:spPr><a:xfrm><a:off x="849273" y="3378518"/><a:ext cx="6168390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Test: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Mann-Whitney U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p-value: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&lt; 0.0001</a:t></a:r></a:p><a:p><a:pPr marL="0" indent="0" algn="l"><a:lnSpc><a:spcPts val="2500"/></a:lnSpc><a:buNone/></a:pP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Effect size: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Cliff's Delta = 0.165 (Small) </a:t></a:r></a:p><a:p><a:pPr marL="0" indent="0" algn="l"><a:lnSpc><a:spcPts val="2500"/></a:lnSpc><a:buNone/></a:pP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Readmitted patients had a mean of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1.22 prior inpatient stays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vs.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0.55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for non-readmitted patients. This is the strongest individual predictor in the dataset and must be included as a high-priority modelling feature.</a:t></a:r><a:endParaRPr lang="en-US" sz="1550" dirty="0"/></a:p></p:txBody></p:sp><p:sp><p:nvSpPr><p:cNvPr id="8" name="Text 6"/><p:cNvSpPr/><p:nvPr/></p:nvSpPr><p:spPr><a:xfrm><a:off x="7564874" y="2870002"/><a:ext cx="3703320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H2  -  Length of Stay ✓ Supported</a:t></a:r><a:endParaRPr lang="en-US" sz="1950" dirty="0"/></a:p></p:txBody></p:sp><p:sp><p:nvSpPr><p:cNvPr id="9" name="Text 7"/><p:cNvSpPr/><p:nvPr/></p:nvSpPr><p:spPr><a:xfrm><a:off x="7564874" y="3378518"/><a:ext cx="6279356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Test: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Mann-Whitney U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p-value: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&lt; 0.0001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Effect size: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Cliff's Delta = 0.064 (Negligible) Readmitted patients had a mean stay of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4.77 days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vs.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4.33 days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for non-readmitted. Both groups share a median of 4 days. Statistically significant, but the practical effect is negligible  -  length of stay is a useful secondary predictor only.</a:t></a:r><a:endParaRPr lang="en-US" sz="1550" dirty="0"/></a:p></p:txBody></p:sp><p:sp><p:nvSpPr><p:cNvPr id="10" name="Shape 8"/><p:cNvSpPr/><p:nvPr/></p:nvSpPr><p:spPr><a:xfrm><a:off x="7564874" y="5288606"/><a:ext cx="6279356" cy="32385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11" name="Shape 9"/><p:cNvSpPr/><p:nvPr/></p:nvSpPr><p:spPr><a:xfrm><a:off x="7564874" y="5544145"/><a:ext cx="6279356" cy="1160740"/></a:xfrm><a:prstGeom prst="roundRect"><a:avLst><a:gd name="adj" fmla="val 7182"/></a:avLst></a:prstGeom><a:solidFill><a:srgbClr val="E1D4D0"/></a:solidFill><a:ln/></p:spPr><p:txBody><a:bodyPr/><a:lstStyle/><a:p><a:endParaRPr lang="en-IN"/></a:p></p:txBody></p:sp><p:pic><p:nvPicPr><p:cNvPr id="12" name="Image 0" descr="preencoded.png"/><p:cNvPicPr><a:picLocks noChangeAspect="1"/></p:cNvPicPr><p:nvPr/></p:nvPicPr><p:blipFill><a:blip r:embed="rId3"/><a:stretch><a:fillRect/></a:stretch></p:blipFill><p:spPr><a:xfrm><a:off x="7763232" y="5847040"/><a:ext cx="248007" cy="198358"/></a:xfrm><a:prstGeom prst="rect"><a:avLst/></a:prstGeom></p:spPr></p:pic><p:sp><p:nvSpPr><p:cNvPr id="13" name="Text 10"/><p:cNvSpPr/><p:nvPr/></p:nvSpPr><p:spPr><a:xfrm><a:off x="8209598" y="5792033"/><a:ext cx="5436275" cy="63507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000000"/></a:solidFill><a:latin typeface="Open Sans" pitchFamily="34" charset="0"/><a:ea typeface="Open Sans" pitchFamily="34" charset="-122"/><a:cs typeface="Open Sans" pitchFamily="34" charset="-120"/></a:rPr><a:t>Statistical significance ≠ practical importance. Effect size is the key interpretive lens in large healthcare datasets.</a:t></a:r><a:endParaRPr lang="en-US" sz="1550" dirty="0"/></a:p></p:txBody></p:sp></p:spTree></p:cSld><p:clrMapOvr><a:masterClrMapping/></p:clrMapOvr></p:sld>
</file>

<file path=ppt/slides/slide13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3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2034302"/><a:ext cx="1861304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852" y="2093833"/><a:ext cx="1623179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HYPOTHESIS RESULTS</a:t></a:r><a:endParaRPr lang="en-US" sz="1250" dirty="0"/></a:p></p:txBody></p:sp><p:sp><p:nvSpPr><p:cNvPr id="4" name="Text 2"/><p:cNvSpPr/><p:nvPr/></p:nvSpPr><p:spPr><a:xfrm><a:off x="793790" y="2486739"/><a:ext cx="11867317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H3 &amp; H4: Discharge Disposition &amp; Medication Change</a:t></a:r><a:endParaRPr lang="en-US" sz="3900" dirty="0"/></a:p></p:txBody></p:sp><p:sp><p:nvSpPr><p:cNvPr id="5" name="Shape 3"/><p:cNvSpPr/><p:nvPr/></p:nvSpPr><p:spPr><a:xfrm><a:off x="650915" y="3404473"/><a:ext cx="6565106" cy="2790706"/></a:xfrm><a:prstGeom prst="roundRect"><a:avLst><a:gd name="adj" fmla="val 5121"/></a:avLst></a:prstGeom><a:solidFill><a:srgbClr val="835E54"/></a:solidFill><a:ln/></p:spPr><p:txBody><a:bodyPr/><a:lstStyle/><a:p><a:endParaRPr lang="en-IN"/></a:p></p:txBody></p:sp><p:sp><p:nvSpPr><p:cNvPr id="6" name="Text 4"/><p:cNvSpPr/><p:nvPr/></p:nvSpPr><p:spPr><a:xfrm><a:off x="849273" y="3602831"/><a:ext cx="4523423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H3  -  Discharge Disposition ✓ Supported</a:t></a:r><a:endParaRPr lang="en-US" sz="1950" dirty="0"/></a:p></p:txBody></p:sp><p:sp><p:nvSpPr><p:cNvPr id="7" name="Text 5"/><p:cNvSpPr/><p:nvPr/></p:nvSpPr><p:spPr><a:xfrm><a:off x="849273" y="4111347"/><a:ext cx="6168390" cy="190523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Test: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Chi-Square Test of Independence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Statistic: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χ² = 1,225.26 (df = 12)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p-value: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&lt; 0.0001 </a:t></a:r><a:r><a:rPr lang="en-US" sz="1550" b="1" dirty="0"><a:solidFill><a:srgbClr val="FFFFFF"/></a:solidFill><a:latin typeface="Open Sans" pitchFamily="34" charset="0"/><a:ea typeface="Open Sans" pitchFamily="34" charset="-122"/><a:cs typeface="Open Sans" pitchFamily="34" charset="-120"/></a:rPr><a:t>Effect size:</a:t></a:r><a:r><a:rPr lang="en-US" sz="1550" dirty="0"><a:solidFill><a:srgbClr val="FFFFFF"/></a:solidFill><a:latin typeface="Open Sans" pitchFamily="34" charset="0"/><a:ea typeface="Open Sans" pitchFamily="34" charset="-122"/><a:cs typeface="Open Sans" pitchFamily="34" charset="-120"/></a:rPr><a:t> Cramer's V = 0.111 (Small) Strong statistical evidence of association. Discharge disposition is one of the strongest operational risk indicators  -  transfers to rehab/inpatient facilities carry 2–2.5× the average readmission rate. All expected cell counts were ≥ 5.</a:t></a:r><a:endParaRPr lang="en-US" sz="1550" dirty="0"/></a:p></p:txBody></p:sp><p:sp><p:nvSpPr><p:cNvPr id="8" name="Text 6"/><p:cNvSpPr/><p:nvPr/></p:nvSpPr><p:spPr><a:xfrm><a:off x="7564874" y="3602831"/><a:ext cx="4244221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H4  -  Medication Change ✓ Supported</a:t></a:r><a:endParaRPr lang="en-US" sz="1950" dirty="0"/></a:p></p:txBody></p:sp><p:sp><p:nvSpPr><p:cNvPr id="9" name="Text 7"/><p:cNvSpPr/><p:nvPr/></p:nvSpPr><p:spPr><a:xfrm><a:off x="7564874" y="4111347"/><a:ext cx="6279356" cy="190523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Test: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Chi-Square Test of Independence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Statistic: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χ² = 34.13 (df = 1)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p-value: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&lt; 0.0001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Effect size: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Cramer's V = 0.018 (Negligible) Medication changes are statistically associated with readmission, but the practical effect is negligible. This likely reflects clinical complexity more than direct causation. Useful as a binary indicator feature in the model.</a:t></a:r><a:endParaRPr lang="en-US" sz="1550" dirty="0"/></a:p></p:txBody></p:sp></p:spTree></p:cSld><p:clrMapOvr><a:masterClrMapping/></p:clrMapOvr></p:sld>
</file>

<file path=ppt/slides/slide14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4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1646753" y="675084"/><a:ext cx="1273850" cy="244793"/></a:xfrm><a:prstGeom prst="roundRect"><a:avLst><a:gd name="adj" fmla="val 19733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1732955" y="718185"/><a:ext cx="1101447" cy="158591"/></a:xfrm><a:prstGeom prst="rect"><a:avLst/></a:prstGeom><a:noFill/><a:ln/></p:spPr><p:txBody><a:bodyPr wrap="none" lIns="0" tIns="0" rIns="0" bIns="0" rtlCol="0" anchor="t"/><a:lstStyle/><a:p><a:pPr marL="0" indent="0" algn="l"><a:lnSpc><a:spcPts val="1200"/></a:lnSpc><a:buNone/></a:pPr><a:r><a:rPr lang="en-US" sz="900" dirty="0"><a:solidFill><a:srgbClr val="443728"/></a:solidFill><a:latin typeface="Open Sans" pitchFamily="34" charset="0"/><a:ea typeface="Open Sans" pitchFamily="34" charset="-122"/><a:cs typeface="Open Sans" pitchFamily="34" charset="-120"/></a:rPr><a:t>MACHINE LEARNING</a:t></a:r><a:endParaRPr lang="en-US" sz="900" dirty="0"/></a:p></p:txBody></p:sp><p:sp><p:nvSpPr><p:cNvPr id="4" name="Text 2"/><p:cNvSpPr/><p:nvPr/></p:nvSpPr><p:spPr><a:xfrm><a:off x="1646753" y="961430"/><a:ext cx="6111121" cy="449223"/></a:xfrm><a:prstGeom prst="rect"><a:avLst/></a:prstGeom><a:noFill/><a:ln/></p:spPr><p:txBody><a:bodyPr wrap="none" lIns="0" tIns="0" rIns="0" bIns="0" rtlCol="0" anchor="t"/><a:lstStyle/><a:p><a:pPr marL="0" indent="0" algn="l"><a:lnSpc><a:spcPts val="3500"/></a:lnSpc><a:buNone/></a:pPr><a:r><a:rPr lang="en-US" sz="28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ML Strategy &amp; Preprocessing Pipeline</a:t></a:r><a:endParaRPr lang="en-US" sz="2800" dirty="0"/></a:p></p:txBody></p:sp><p:pic><p:nvPicPr><p:cNvPr id="5" name="Image 0" descr="preencoded.png"/><p:cNvPicPr><a:picLocks noChangeAspect="1"/></p:cNvPicPr><p:nvPr/></p:nvPicPr><p:blipFill><a:blip r:embed="rId3"/><a:stretch><a:fillRect/></a:stretch></p:blipFill><p:spPr><a:xfrm><a:off x="3985855" y="1566743"/><a:ext cx="6658451" cy="3951803"/></a:xfrm><a:prstGeom prst="rect"><a:avLst/></a:prstGeom></p:spPr></p:pic><p:pic><p:nvPicPr><p:cNvPr id="6" name="Image 1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4"/></a:ext></a:extLst></a:blip><a:stretch><a:fillRect/></a:stretch></p:blipFill><p:spPr><a:xfrm><a:off x="9125242" y="2532630"/><a:ext cx="566828" cy="566827"/></a:xfrm><a:prstGeom prst="rect"><a:avLst/></a:prstGeom></p:spPr></p:pic><p:sp><p:nvSpPr><p:cNvPr id="7" name="Text 3"/><p:cNvSpPr/><p:nvPr/></p:nvSpPr><p:spPr><a:xfrm><a:off x="8620235" y="4442483"/><a:ext cx="1655136" cy="637681"/></a:xfrm><a:prstGeom prst="rect"><a:avLst/></a:prstGeom><a:noFill/><a:ln/></p:spPr><p:txBody><a:bodyPr wrap="square" lIns="0" tIns="0" rIns="0" bIns="0" rtlCol="0" anchor="t"/><a:lstStyle/><a:p><a:pPr marL="0" indent="0" algn="ctr"><a:lnSpc><a:spcPts val="25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Model Training</a:t></a:r><a:endParaRPr lang="en-US" sz="2000" dirty="0"/></a:p></p:txBody></p:sp><p:pic><p:nvPicPr><p:cNvPr id="8" name="Image 2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5"/></a:ext></a:extLst></a:blip><a:stretch><a:fillRect/></a:stretch></p:blipFill><p:spPr><a:xfrm><a:off x="7050123" y="2533693"/><a:ext cx="566827" cy="566827"/></a:xfrm><a:prstGeom prst="rect"><a:avLst/></a:prstGeom></p:spPr></p:pic><p:sp><p:nvSpPr><p:cNvPr id="9" name="Text 4"/><p:cNvSpPr/><p:nvPr/></p:nvSpPr><p:spPr><a:xfrm><a:off x="6534309" y="4442483"/><a:ext cx="2026579" cy="637681"/></a:xfrm><a:prstGeom prst="rect"><a:avLst/></a:prstGeom><a:noFill/><a:ln/></p:spPr><p:txBody><a:bodyPr wrap="square" lIns="0" tIns="0" rIns="0" bIns="0" rtlCol="0" anchor="t"/><a:lstStyle/><a:p><a:pPr marL="0" indent="0" algn="ctr"><a:lnSpc><a:spcPts val="25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Transformation</a:t></a:r><a:endParaRPr lang="en-US" sz="2000" dirty="0"/></a:p></p:txBody></p:sp><p:pic><p:nvPicPr><p:cNvPr id="10" name="Image 3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6"/></a:ext></a:extLst></a:blip><a:stretch><a:fillRect/></a:stretch></p:blipFill><p:spPr><a:xfrm><a:off x="4964199" y="2533693"/><a:ext cx="566827" cy="566827"/></a:xfrm><a:prstGeom prst="rect"><a:avLst/></a:prstGeom></p:spPr></p:pic><p:sp><p:nvSpPr><p:cNvPr id="11" name="Text 5"/><p:cNvSpPr/><p:nvPr/></p:nvSpPr><p:spPr><a:xfrm><a:off x="4414377" y="4601904"/><a:ext cx="1655136" cy="318841"/></a:xfrm><a:prstGeom prst="rect"><a:avLst/></a:prstGeom><a:noFill/><a:ln/></p:spPr><p:txBody><a:bodyPr wrap="none" lIns="0" tIns="0" rIns="0" bIns="0" rtlCol="0" anchor="t"/><a:lstStyle/><a:p><a:pPr marL="0" indent="0" algn="ctr"><a:lnSpc><a:spcPts val="25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Imputation</a:t></a:r><a:endParaRPr lang="en-US" sz="2000" dirty="0"/></a:p></p:txBody></p:sp><p:sp><p:nvSpPr><p:cNvPr id="12" name="Text 6"/><p:cNvSpPr/><p:nvPr/></p:nvSpPr><p:spPr><a:xfrm><a:off x="857289" y="5714761"/><a:ext cx="1814980" cy="224552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24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Data Split</a:t></a:r><a:endParaRPr lang="en-US" sz="2400" dirty="0"/></a:p></p:txBody></p:sp><p:sp><p:nvSpPr><p:cNvPr id="13" name="Text 7"/><p:cNvSpPr/><p:nvPr/></p:nvSpPr><p:spPr><a:xfrm><a:off x="857289" y="6086236"/><a:ext cx="5970231" cy="1468280"/></a:xfrm><a:prstGeom prst="rect"><a:avLst/></a:prstGeom><a:noFill/><a:ln/></p:spPr><p:txBody><a:bodyPr wrap="square" lIns="0" tIns="0" rIns="0" bIns="0" rtlCol="0" anchor="t"/><a:lstStyle/><a:p><a:pPr marL="0" indent="0"><a:lnSpc><a:spcPts val="1550"/></a:lnSpc><a:buNone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80/20 stratified train-test split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(random_state=42). </a:t></a:r></a:p><a:p><a:pPr marL="0" indent="0"><a:lnSpc><a:spcPts val="1550"/></a:lnSpc><a:buNone/></a:pPr><a:endParaRPr lang="en-US" sz="1600" dirty="0"><a:solidFill><a:srgbClr val="443728"/></a:solidFill><a:latin typeface="Open Sans" pitchFamily="34" charset="0"/><a:ea typeface="Open Sans" pitchFamily="34" charset="-122"/><a:cs typeface="Open Sans" pitchFamily="34" charset="-120"/></a:endParaRPr></a:p><a:p><a:pPr marL="0" indent="0"><a:lnSpc><a:spcPts val="155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Train: 79,474 rows (11.39% positive). Test: 19,869 rows (11.39% positive). Stratification ensures the rare positive class is equally represented in both sets.</a:t></a:r><a:endParaRPr lang="en-US" sz="1600" dirty="0"/></a:p></p:txBody></p:sp><p:sp><p:nvSpPr><p:cNvPr id="14" name="Text 8"/><p:cNvSpPr/><p:nvPr/></p:nvSpPr><p:spPr><a:xfrm><a:off x="7498080" y="5398299"/><a:ext cx="5303520" cy="464813"/></a:xfrm><a:prstGeom prst="rect"><a:avLst/></a:prstGeom><a:noFill/><a:ln/></p:spPr><p:txBody><a:bodyPr wrap="none" lIns="0" tIns="0" rIns="0" bIns="0" rtlCol="0" anchor="t"/><a:lstStyle/><a:p><a:pPr marL="0" indent="0" algn="l"><a:lnSpc><a:spcPts val="175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Four Candidate Algorithms</a:t></a:r><a:endParaRPr lang="en-US" sz="2000" dirty="0"/></a:p></p:txBody></p:sp><p:sp><p:nvSpPr><p:cNvPr id="15" name="Text 9"/><p:cNvSpPr/><p:nvPr/></p:nvSpPr><p:spPr><a:xfrm><a:off x="7498079" y="5714761"/><a:ext cx="6812281" cy="1468280"/></a:xfrm><a:prstGeom prst="rect"><a:avLst/></a:prstGeom><a:noFill/><a:ln/></p:spPr><p:txBody><a:bodyPr wrap="square" lIns="0" tIns="0" rIns="0" bIns="0" rtlCol="0" anchor="t"/><a:lstStyle/><a:p><a:pPr marL="342900" indent="-342900" algn="l"><a:lnSpc><a:spcPts val="1550"/></a:lnSpc><a:buSzPct val="100000"/><a:buChar char="•"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Logistic Regression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 -  interpretable baseline, coefficient-based reasoning</a:t></a:r><a:endParaRPr lang="en-US" sz="1600" dirty="0"/></a:p><a:p><a:pPr marL="342900" indent="-342900" algn="l"><a:lnSpc><a:spcPts val="1550"/></a:lnSpc><a:buSzPct val="100000"/><a:buChar char="•"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Random Forest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 -  nonlinear ensemble, handles interactions well</a:t></a:r><a:endParaRPr lang="en-US" sz="1600" dirty="0"/></a:p><a:p><a:pPr marL="342900" indent="-342900" algn="l"><a:lnSpc><a:spcPts val="1550"/></a:lnSpc><a:buSzPct val="100000"/><a:buChar char="•"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XGBoost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 -  high-performing gradient boosting on tabular data</a:t></a:r><a:endParaRPr lang="en-US" sz="1600" dirty="0"/></a:p><a:p><a:pPr marL="342900" indent="-342900" algn="l"><a:lnSpc><a:spcPts val="1550"/></a:lnSpc><a:buSzPct val="100000"/><a:buChar char="•"/></a:pP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LightGBM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 -  efficient boosting, strong on wide encoded datasets</a:t></a:r><a:endParaRPr lang="en-US" sz="1600" dirty="0"/></a:p></p:txBody></p:sp><p:sp><p:nvSpPr><p:cNvPr id="16" name="Text 10"/><p:cNvSpPr/><p:nvPr/></p:nvSpPr><p:spPr><a:xfrm><a:off x="7498080" y="7064216"/><a:ext cx="6705600" cy="692944"/></a:xfrm><a:prstGeom prst="rect"><a:avLst/></a:prstGeom><a:noFill/><a:ln/></p:spPr><p:txBody><a:bodyPr wrap="square" lIns="0" tIns="0" rIns="0" bIns="0" rtlCol="0" anchor="t"/><a:lstStyle/><a:p><a:pPr marL="0" indent="0" algn="l"><a:lnSpc><a:spcPts val="155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All models use </a:t></a:r><a:r><a:rPr lang="en-US" sz="1600" dirty="0"><a:solidFill><a:srgbClr val="443728"/></a:solidFill><a:highlight><a:srgbClr val="F2EFED"/></a:highlight><a:latin typeface="Consolas" pitchFamily="34" charset="0"/><a:ea typeface="Consolas" pitchFamily="34" charset="-122"/><a:cs typeface="Consolas" pitchFamily="34" charset="-120"/></a:rPr><a:t>class_weight='balanced'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 or equivalent to address the 8:1 imbalance.</a:t></a:r><a:endParaRPr lang="en-US" sz="1600" dirty="0"/></a:p></p:txBody></p:sp></p:spTree></p:cSld><p:clrMapOvr><a:masterClrMapping/></p:clrMapOvr></p:sld>
</file>

<file path=ppt/slides/slide15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5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1219200" y="372189"/><a:ext cx="1271588" cy="320278"/></a:xfrm><a:prstGeom prst="roundRect"><a:avLst><a:gd name="adj" fmla="val 20260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1383506" y="479108"/><a:ext cx="811054" cy="137517"/></a:xfrm><a:prstGeom prst="rect"><a:avLst/></a:prstGeom><a:noFill/><a:ln/></p:spPr><p:txBody><a:bodyPr wrap="none" lIns="0" tIns="0" rIns="0" bIns="0" rtlCol="0" anchor="t"/><a:lstStyle/><a:p><a:pPr marL="0" indent="0" algn="l"><a:lnSpc><a:spcPts val="1050"/></a:lnSpc><a:buNone/></a:pPr><a:r><a:rPr lang="en-US" sz="1000" dirty="0"><a:solidFill><a:srgbClr val="443728"/></a:solidFill><a:latin typeface="Open Sans" pitchFamily="34" charset="0"/><a:ea typeface="Open Sans" pitchFamily="34" charset="-122"/><a:cs typeface="Open Sans" pitchFamily="34" charset="-120"/></a:rPr><a:t>MODEL RESULTS</a:t></a:r><a:endParaRPr lang="en-US" sz="1000" dirty="0"/></a:p></p:txBody></p:sp><p:sp><p:nvSpPr><p:cNvPr id="4" name="Text 2"/><p:cNvSpPr/><p:nvPr/></p:nvSpPr><p:spPr><a:xfrm><a:off x="2194560" y="834866"/><a:ext cx="4745712" cy="405765"/></a:xfrm><a:prstGeom prst="rect"><a:avLst/></a:prstGeom><a:noFill/><a:ln/></p:spPr><p:txBody><a:bodyPr wrap="none" lIns="0" tIns="0" rIns="0" bIns="0" rtlCol="0" anchor="t"/><a:lstStyle/><a:p><a:pPr marL="0" indent="0" algn="l"><a:lnSpc><a:spcPts val="3150"/></a:lnSpc><a:buNone/></a:pPr><a:r><a:rPr lang="en-US" sz="32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Model Performance Comparison</a:t></a:r><a:endParaRPr lang="en-US" sz="3200" dirty="0"/></a:p></p:txBody></p:sp><p:sp><p:nvSpPr><p:cNvPr id="27" name="Shape 21"/><p:cNvSpPr/><p:nvPr/></p:nvSpPr><p:spPr><a:xfrm><a:off x="2194560" y="6974798"/><a:ext cx="2359223" cy="1010961"/></a:xfrm><a:prstGeom prst="roundRect"><a:avLst><a:gd name="adj" fmla="val 6254"/></a:avLst></a:prstGeom><a:solidFill><a:srgbClr val="EBE2E0"/></a:solidFill><a:ln w="7620"><a:solidFill><a:srgbClr val="D1C8C6"/></a:solidFill><a:prstDash val="solid"/></a:ln></p:spPr><p:txBody><a:bodyPr/><a:lstStyle/><a:p><a:endParaRPr lang="en-IN" sz="2400"/></a:p></p:txBody></p:sp><p:sp><p:nvSpPr><p:cNvPr id="28" name="Text 22"/><p:cNvSpPr/><p:nvPr/></p:nvSpPr><p:spPr><a:xfrm><a:off x="2331958" y="7122557"/><a:ext cx="1623298" cy="202763"/></a:xfrm><a:prstGeom prst="rect"><a:avLst/></a:prstGeom><a:noFill/><a:ln/></p:spPr><p:txBody><a:bodyPr wrap="none" lIns="0" tIns="0" rIns="0" bIns="0" rtlCol="0" anchor="t"/><a:lstStyle/><a:p><a:pPr marL="0" indent="0" algn="l"><a:lnSpc><a:spcPts val="1550"/></a:lnSpc><a:buNone/></a:pPr><a:r><a:rPr lang="en-US" sz="16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LightGBM</a:t></a:r><a:endParaRPr lang="en-US" sz="1600" dirty="0"/></a:p></p:txBody></p:sp><p:sp><p:nvSpPr><p:cNvPr id="29" name="Text 23"/><p:cNvSpPr/><p:nvPr/></p:nvSpPr><p:spPr><a:xfrm><a:off x="2331958" y="7376279"/><a:ext cx="2221825" cy="343614"/></a:xfrm><a:prstGeom prst="rect"><a:avLst/></a:prstGeom><a:noFill/><a:ln/></p:spPr><p:txBody><a:bodyPr wrap="square" lIns="0" tIns="0" rIns="0" bIns="0" rtlCol="0" anchor="t"/><a:lstStyle/><a:p><a:pPr marL="0" indent="0" algn="l"><a:lnSpc><a:spcPts val="1350"/></a:lnSpc><a:buNone/></a:pPr><a:r><a:rPr lang="en-US" sz="1200" b="1" dirty="0"><a:solidFill><a:srgbClr val="443728"/></a:solidFill><a:latin typeface="Open Sans" pitchFamily="34" charset="0"/><a:ea typeface="Open Sans" pitchFamily="34" charset="-122"/><a:cs typeface="Open Sans" pitchFamily="34" charset="-120"/></a:rPr><a:t>ROC-AUC 0.6745 | Recall 54.4% | PR-AUC 0.2403 | Accuracy 68.1%</a:t></a:r><a:endParaRPr lang="en-US" sz="1200" b="1" dirty="0"/></a:p></p:txBody></p:sp><p:sp><p:nvSpPr><p:cNvPr id="30" name="Shape 24"/><p:cNvSpPr/><p:nvPr/></p:nvSpPr><p:spPr><a:xfrm><a:off x="4776073" y="6985159"/><a:ext cx="2359223" cy="999092"/></a:xfrm><a:prstGeom prst="roundRect"><a:avLst><a:gd name="adj" fmla="val 6254"/></a:avLst></a:prstGeom><a:solidFill><a:srgbClr val="EBE2E0"/></a:solidFill><a:ln w="7620"><a:solidFill><a:srgbClr val="D1C8C6"/></a:solidFill><a:prstDash val="solid"/></a:ln></p:spPr><p:txBody><a:bodyPr/><a:lstStyle/><a:p><a:endParaRPr lang="en-IN" sz="2400"/></a:p></p:txBody></p:sp><p:sp><p:nvSpPr><p:cNvPr id="31" name="Text 25"/><p:cNvSpPr/><p:nvPr/></p:nvSpPr><p:spPr><a:xfrm><a:off x="4913471" y="7122557"/><a:ext cx="1623298" cy="202763"/></a:xfrm><a:prstGeom prst="rect"><a:avLst/></a:prstGeom><a:noFill/><a:ln/></p:spPr><p:txBody><a:bodyPr wrap="none" lIns="0" tIns="0" rIns="0" bIns="0" rtlCol="0" anchor="t"/><a:lstStyle/><a:p><a:pPr marL="0" indent="0" algn="l"><a:lnSpc><a:spcPts val="1550"/></a:lnSpc><a:buNone/></a:pPr><a:r><a:rPr lang="en-US" sz="16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XGBoost</a:t></a:r><a:endParaRPr lang="en-US" sz="1600" dirty="0"/></a:p></p:txBody></p:sp><p:sp><p:nvSpPr><p:cNvPr id="32" name="Text 26"/><p:cNvSpPr/><p:nvPr/></p:nvSpPr><p:spPr><a:xfrm><a:off x="4913471" y="7376279"/><a:ext cx="2221825" cy="343614"/></a:xfrm><a:prstGeom prst="rect"><a:avLst/></a:prstGeom><a:noFill/><a:ln/></p:spPr><p:txBody><a:bodyPr wrap="square" lIns="0" tIns="0" rIns="0" bIns="0" rtlCol="0" anchor="t"/><a:lstStyle/><a:p><a:pPr marL="0" indent="0" algn="l"><a:lnSpc><a:spcPts val="1350"/></a:lnSpc><a:buNone/></a:pPr><a:r><a:rPr lang="en-US" sz="1200" b="1" dirty="0"><a:solidFill><a:srgbClr val="443728"/></a:solidFill><a:latin typeface="Open Sans" pitchFamily="34" charset="0"/><a:ea typeface="Open Sans" pitchFamily="34" charset="-122"/><a:cs typeface="Open Sans" pitchFamily="34" charset="-120"/></a:rPr><a:t>ROC-AUC 0.6804 | Recall 54.7% | PR-AUC 0.2403 | Accuracy 68.7%</a:t></a:r><a:endParaRPr lang="en-US" sz="1200" b="1" dirty="0"/></a:p></p:txBody></p:sp><p:sp><p:nvSpPr><p:cNvPr id="33" name="Shape 27"/><p:cNvSpPr/><p:nvPr/></p:nvSpPr><p:spPr><a:xfrm><a:off x="7357586" y="6985159"/><a:ext cx="2359223" cy="999092"/></a:xfrm><a:prstGeom prst="roundRect"><a:avLst><a:gd name="adj" fmla="val 6254"/></a:avLst></a:prstGeom><a:solidFill><a:srgbClr val="EBE2E0"/></a:solidFill><a:ln w="7620"><a:solidFill><a:srgbClr val="D1C8C6"/></a:solidFill><a:prstDash val="solid"/></a:ln></p:spPr><p:txBody><a:bodyPr/><a:lstStyle/><a:p><a:endParaRPr lang="en-IN" sz="2400"/></a:p></p:txBody></p:sp><p:sp><p:nvSpPr><p:cNvPr id="34" name="Text 28"/><p:cNvSpPr/><p:nvPr/></p:nvSpPr><p:spPr><a:xfrm><a:off x="7494984" y="7122557"/><a:ext cx="1623298" cy="202763"/></a:xfrm><a:prstGeom prst="rect"><a:avLst/></a:prstGeom><a:noFill/><a:ln/></p:spPr><p:txBody><a:bodyPr wrap="none" lIns="0" tIns="0" rIns="0" bIns="0" rtlCol="0" anchor="t"/><a:lstStyle/><a:p><a:pPr marL="0" indent="0" algn="l"><a:lnSpc><a:spcPts val="1550"/></a:lnSpc><a:buNone/></a:pPr><a:r><a:rPr lang="en-US" sz="16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Random Forest</a:t></a:r><a:endParaRPr lang="en-US" sz="1600" dirty="0"/></a:p></p:txBody></p:sp><p:sp><p:nvSpPr><p:cNvPr id="35" name="Text 29"/><p:cNvSpPr/><p:nvPr/></p:nvSpPr><p:spPr><a:xfrm><a:off x="7494984" y="7376279"/><a:ext cx="2221825" cy="343614"/></a:xfrm><a:prstGeom prst="rect"><a:avLst/></a:prstGeom><a:noFill/><a:ln/></p:spPr><p:txBody><a:bodyPr wrap="square" lIns="0" tIns="0" rIns="0" bIns="0" rtlCol="0" anchor="t"/><a:lstStyle/><a:p><a:pPr marL="0" indent="0" algn="l"><a:lnSpc><a:spcPts val="1350"/></a:lnSpc><a:buNone/></a:pPr><a:r><a:rPr lang="en-US" sz="1200" b="1" dirty="0"><a:solidFill><a:srgbClr val="443728"/></a:solidFill><a:latin typeface="Open Sans" pitchFamily="34" charset="0"/><a:ea typeface="Open Sans" pitchFamily="34" charset="-122"/><a:cs typeface="Open Sans" pitchFamily="34" charset="-120"/></a:rPr><a:t>ROC-AUC 0.6781 | Recall 42.7% | PR-AUC 0.2265 | Accuracy 76.0%</a:t></a:r><a:endParaRPr lang="en-US" sz="1200" b="1" dirty="0"/></a:p></p:txBody></p:sp><p:sp><p:nvSpPr><p:cNvPr id="36" name="Shape 30"/><p:cNvSpPr/><p:nvPr/></p:nvSpPr><p:spPr><a:xfrm><a:off x="9939099" y="6985159"/><a:ext cx="2359335" cy="999092"/></a:xfrm><a:prstGeom prst="roundRect"><a:avLst><a:gd name="adj" fmla="val 6254"/></a:avLst></a:prstGeom><a:solidFill><a:srgbClr val="EBE2E0"/></a:solidFill><a:ln w="7620"><a:solidFill><a:srgbClr val="D1C8C6"/></a:solidFill><a:prstDash val="solid"/></a:ln></p:spPr><p:txBody><a:bodyPr/><a:lstStyle/><a:p><a:endParaRPr lang="en-IN" sz="2400"/></a:p></p:txBody></p:sp><p:sp><p:nvSpPr><p:cNvPr id="37" name="Text 31"/><p:cNvSpPr/><p:nvPr/></p:nvSpPr><p:spPr><a:xfrm><a:off x="10076498" y="7122557"/><a:ext cx="1623298" cy="202763"/></a:xfrm><a:prstGeom prst="rect"><a:avLst/></a:prstGeom><a:noFill/><a:ln/></p:spPr><p:txBody><a:bodyPr wrap="none" lIns="0" tIns="0" rIns="0" bIns="0" rtlCol="0" anchor="t"/><a:lstStyle/><a:p><a:pPr marL="0" indent="0" algn="l"><a:lnSpc><a:spcPts val="1550"/></a:lnSpc><a:buNone/></a:pPr><a:r><a:rPr lang="en-US" sz="16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Logistic Regression</a:t></a:r><a:endParaRPr lang="en-US" sz="1600" dirty="0"/></a:p></p:txBody></p:sp><p:sp><p:nvSpPr><p:cNvPr id="38" name="Text 32"/><p:cNvSpPr/><p:nvPr/></p:nvSpPr><p:spPr><a:xfrm><a:off x="10076498" y="7376279"/><a:ext cx="2221944" cy="343614"/></a:xfrm><a:prstGeom prst="rect"><a:avLst/></a:prstGeom><a:noFill/><a:ln/></p:spPr><p:txBody><a:bodyPr wrap="square" lIns="0" tIns="0" rIns="0" bIns="0" rtlCol="0" anchor="t"/><a:lstStyle/><a:p><a:pPr marL="0" indent="0" algn="l"><a:lnSpc><a:spcPts val="1350"/></a:lnSpc><a:buNone/></a:pPr><a:r><a:rPr lang="en-US" sz="1200" b="1" dirty="0"><a:solidFill><a:srgbClr val="443728"/></a:solidFill><a:latin typeface="Open Sans" pitchFamily="34" charset="0"/><a:ea typeface="Open Sans" pitchFamily="34" charset="-122"/><a:cs typeface="Open Sans" pitchFamily="34" charset="-120"/></a:rPr><a:t>ROC-AUC 0.6555 | Recall 54.4% | PR-AUC 0.2155 | Accuracy 66.4%</a:t></a:r><a:endParaRPr lang="en-US" sz="1200" b="1" dirty="0"/></a:p></p:txBody></p:sp><p:pic><p:nvPicPr><p:cNvPr id="40" name="Picture 39"><a:extLst><a:ext uri="{FF2B5EF4-FFF2-40B4-BE49-F238E27FC236}"><a16:creationId xmlns:a16="http://schemas.microsoft.com/office/drawing/2014/main" id="{C165991A-7B1B-56FC-53E9-43BC26D4C5A2}"/></a:ext></a:extLst></p:cNvPr><p:cNvPicPr><a:picLocks noChangeAspect="1"/></p:cNvPicPr><p:nvPr/></p:nvPicPr><p:blipFill><a:blip r:embed="rId3"/><a:stretch><a:fillRect/></a:stretch></p:blipFill><p:spPr><a:xfrm><a:off x="1008064" y="1540310"/><a:ext cx="12614272" cy="5043369"/></a:xfrm><a:prstGeom prst="rect"><a:avLst/></a:prstGeom></p:spPr></p:pic></p:spTree></p:cSld><p:clrMapOvr><a:masterClrMapping/></p:clrMapOvr></p:sld>
</file>

<file path=ppt/slides/slide16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6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62119" y="613886"/><a:ext cx="1745813" cy="353258"/></a:xfrm><a:prstGeom prst="roundRect"><a:avLst><a:gd name="adj" fmla="val 18123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876419" y="671036"/><a:ext cx="1517213" cy="238958"/></a:xfrm><a:prstGeom prst="rect"><a:avLst/></a:prstGeom><a:noFill/><a:ln/></p:spPr><p:txBody><a:bodyPr wrap="none" lIns="0" tIns="0" rIns="0" bIns="0" rtlCol="0" anchor="t"/><a:lstStyle/><a:p><a:pPr marL="0" indent="0" algn="l"><a:lnSpc><a:spcPts val="1850"/></a:lnSpc><a:buNone/></a:pPr><a:r><a:rPr lang="en-US" sz="1200" dirty="0"><a:solidFill><a:srgbClr val="443728"/></a:solidFill><a:latin typeface="Open Sans" pitchFamily="34" charset="0"/><a:ea typeface="Open Sans" pitchFamily="34" charset="-122"/><a:cs typeface="Open Sans" pitchFamily="34" charset="-120"/></a:rPr><a:t>RECOMMENDATIONS</a:t></a:r><a:endParaRPr lang="en-US" sz="1200" dirty="0"/></a:p></p:txBody></p:sp><p:sp><p:nvSpPr><p:cNvPr id="4" name="Text 2"/><p:cNvSpPr/><p:nvPr/></p:nvSpPr><p:spPr><a:xfrm><a:off x="762119" y="1040249"/><a:ext cx="11139368" cy="595432"/></a:xfrm><a:prstGeom prst="rect"><a:avLst/></a:prstGeom><a:noFill/><a:ln/></p:spPr><p:txBody><a:bodyPr wrap="none" lIns="0" tIns="0" rIns="0" bIns="0" rtlCol="0" anchor="t"/><a:lstStyle/><a:p><a:pPr marL="0" indent="0" algn="l"><a:lnSpc><a:spcPts val="4650"/></a:lnSpc><a:buNone/></a:pPr><a:r><a:rPr lang="en-US" sz="37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Top Model Recommendations &amp; Feature Importance</a:t></a:r><a:endParaRPr lang="en-US" sz="3750" dirty="0"/></a:p></p:txBody></p:sp><p:sp><p:nvSpPr><p:cNvPr id="5" name="Shape 3"/><p:cNvSpPr/><p:nvPr/></p:nvSpPr><p:spPr><a:xfrm><a:off x="624959" y="1910001"/><a:ext cx="5916335" cy="5705713"/></a:xfrm><a:prstGeom prst="roundRect"><a:avLst><a:gd name="adj" fmla="val 2404"/></a:avLst></a:prstGeom><a:solidFill><a:srgbClr val="835E54"/></a:solidFill><a:ln/></p:spPr><p:txBody><a:bodyPr/><a:lstStyle/><a:p><a:endParaRPr lang="en-IN"/></a:p></p:txBody></p:sp><p:sp><p:nvSpPr><p:cNvPr id="6" name="Text 4"/><p:cNvSpPr/><p:nvPr/></p:nvSpPr><p:spPr><a:xfrm><a:off x="815459" y="2092881"/><a:ext cx="2547818" cy="297656"/></a:xfrm><a:prstGeom prst="rect"><a:avLst/></a:prstGeom><a:noFill/><a:ln/></p:spPr><p:txBody><a:bodyPr wrap="none" lIns="0" tIns="0" rIns="0" bIns="0" rtlCol="0" anchor="t"/><a:lstStyle/><a:p><a:pPr marL="0" indent="0" algn="l"><a:lnSpc><a:spcPts val="2300"/></a:lnSpc><a:buNone/></a:pPr><a:r><a:rPr lang="en-US" b="1" dirty="0"><a:solidFill><a:srgbClr val="FFFFFF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Deployment Candidates</a:t></a:r><a:endParaRPr lang="en-US" dirty="0"/></a:p></p:txBody></p:sp><p:sp><p:nvSpPr><p:cNvPr id="7" name="Text 5"/><p:cNvSpPr/><p:nvPr/></p:nvSpPr><p:spPr><a:xfrm><a:off x="815459" y="2573417"/><a:ext cx="5535335" cy="597218"/></a:xfrm><a:prstGeom prst="rect"><a:avLst/></a:prstGeom><a:noFill/><a:ln/></p:spPr><p:txBody><a:bodyPr wrap="square" lIns="0" tIns="0" rIns="0" bIns="0" rtlCol="0" anchor="t"/><a:lstStyle/><a:p><a:pPr marL="0" indent="0" algn="l"><a:lnSpc><a:spcPts val="2350"/></a:lnSpc><a:buNone/></a:pPr><a:r><a:rPr lang="en-US" sz="1400" b="1" dirty="0"><a:solidFill><a:srgbClr val="FFFFFF"/></a:solidFill><a:latin typeface="Open Sans" pitchFamily="34" charset="0"/><a:ea typeface="Open Sans" pitchFamily="34" charset="-122"/><a:cs typeface="Open Sans" pitchFamily="34" charset="-120"/></a:rPr><a:t>1. XGBoost</a:t></a:r><a:r><a:rPr lang="en-US" sz="1400" dirty="0"><a:solidFill><a:srgbClr val="FFFFFF"/></a:solidFill><a:latin typeface="Open Sans" pitchFamily="34" charset="0"/><a:ea typeface="Open Sans" pitchFamily="34" charset="-122"/><a:cs typeface="Open Sans" pitchFamily="34" charset="-120"/></a:rPr><a:t>  -  Highest ROC-AUC (0.6804) and Recall (54.7%) with PR-AUC 0.2403. Best overall discriminative performance.</a:t></a:r><a:endParaRPr lang="en-US" sz="1400" dirty="0"/></a:p></p:txBody></p:sp><p:sp><p:nvSpPr><p:cNvPr id="8" name="Shape 6"/><p:cNvSpPr/><p:nvPr/></p:nvSpPr><p:spPr><a:xfrm><a:off x="815459" y="3471633"/><a:ext cx="5535335" cy="31433"/></a:xfrm><a:prstGeom prst="rect"><a:avLst/></a:prstGeom><a:solidFill><a:srgbClr val="FFFFFF"><a:alpha val="50000"/></a:srgbClr></a:solidFill><a:ln/></p:spPr><p:txBody><a:bodyPr/><a:lstStyle/><a:p><a:endParaRPr lang="en-IN"/></a:p></p:txBody></p:sp><p:sp><p:nvSpPr><p:cNvPr id="9" name="Text 7"/><p:cNvSpPr/><p:nvPr/></p:nvSpPr><p:spPr><a:xfrm><a:off x="815459" y="3708797"/><a:ext cx="5535335" cy="895826"/></a:xfrm><a:prstGeom prst="rect"><a:avLst/></a:prstGeom><a:noFill/><a:ln/></p:spPr><p:txBody><a:bodyPr wrap="square" lIns="0" tIns="0" rIns="0" bIns="0" rtlCol="0" anchor="t"/><a:lstStyle/><a:p><a:pPr marL="0" indent="0" algn="l"><a:lnSpc><a:spcPts val="2350"/></a:lnSpc><a:buNone/></a:pPr><a:r><a:rPr lang="en-US" sz="1400" b="1" dirty="0"><a:solidFill><a:srgbClr val="FFFFFF"/></a:solidFill><a:latin typeface="Open Sans" pitchFamily="34" charset="0"/><a:ea typeface="Open Sans" pitchFamily="34" charset="-122"/><a:cs typeface="Open Sans" pitchFamily="34" charset="-120"/></a:rPr><a:t>2. LightGBM</a:t></a:r><a:r><a:rPr lang="en-US" sz="1400" dirty="0"><a:solidFill><a:srgbClr val="FFFFFF"/></a:solidFill><a:latin typeface="Open Sans" pitchFamily="34" charset="0"/><a:ea typeface="Open Sans" pitchFamily="34" charset="-122"/><a:cs typeface="Open Sans" pitchFamily="34" charset="-120"/></a:rPr><a:t>  -  Matching PR-AUC (0.2403), strong Recall (54.4%), and faster inference. Ideal for production deployment.</a:t></a:r><a:endParaRPr lang="en-US" sz="1400" dirty="0"/></a:p></p:txBody></p:sp><p:sp><p:nvSpPr><p:cNvPr id="10" name="Shape 8"/><p:cNvSpPr/><p:nvPr/></p:nvSpPr><p:spPr><a:xfrm><a:off x="815459" y="4905622"/><a:ext cx="5535335" cy="31433"/></a:xfrm><a:prstGeom prst="rect"><a:avLst/></a:prstGeom><a:solidFill><a:srgbClr val="FFFFFF"><a:alpha val="50000"/></a:srgbClr></a:solidFill><a:ln/></p:spPr><p:txBody><a:bodyPr/><a:lstStyle/><a:p><a:endParaRPr lang="en-IN"/></a:p></p:txBody></p:sp><p:sp><p:nvSpPr><p:cNvPr id="11" name="Text 9"/><p:cNvSpPr/><p:nvPr/></p:nvSpPr><p:spPr><a:xfrm><a:off x="815459" y="5142786"/><a:ext cx="5535335" cy="597218"/></a:xfrm><a:prstGeom prst="rect"><a:avLst/></a:prstGeom><a:noFill/><a:ln/></p:spPr><p:txBody><a:bodyPr wrap="square" lIns="0" tIns="0" rIns="0" bIns="0" rtlCol="0" anchor="t"/><a:lstStyle/><a:p><a:pPr marL="0" indent="0" algn="l"><a:lnSpc><a:spcPts val="2350"/></a:lnSpc><a:buNone/></a:pPr><a:r><a:rPr lang="en-US" sz="1400" dirty="0"><a:solidFill><a:srgbClr val="FFFFFF"/></a:solidFill><a:latin typeface="Open Sans" pitchFamily="34" charset="0"/><a:ea typeface="Open Sans" pitchFamily="34" charset="-122"/><a:cs typeface="Open Sans" pitchFamily="34" charset="-120"/></a:rPr><a:t>For academic presentation, pair with </a:t></a:r><a:r><a:rPr lang="en-US" sz="1400" b="1" dirty="0"><a:solidFill><a:srgbClr val="FFFFFF"/></a:solidFill><a:latin typeface="Open Sans" pitchFamily="34" charset="0"/><a:ea typeface="Open Sans" pitchFamily="34" charset="-122"/><a:cs typeface="Open Sans" pitchFamily="34" charset="-120"/></a:rPr><a:t>Logistic Regression</a:t></a:r><a:r><a:rPr lang="en-US" sz="1400" dirty="0"><a:solidFill><a:srgbClr val="FFFFFF"/></a:solidFill><a:latin typeface="Open Sans" pitchFamily="34" charset="0"/><a:ea typeface="Open Sans" pitchFamily="34" charset="-122"/><a:cs typeface="Open Sans" pitchFamily="34" charset="-120"/></a:rPr><a:t> as an interpretable baseline with coefficient-based explanation.</a:t></a:r><a:endParaRPr lang="en-US" sz="1400" dirty="0"/></a:p></p:txBody></p:sp><p:sp><p:nvSpPr><p:cNvPr id="12" name="Text 10"/><p:cNvSpPr/><p:nvPr/></p:nvSpPr><p:spPr><a:xfrm><a:off x="6876574" y="2092881"/><a:ext cx="3797260" cy="297656"/></a:xfrm><a:prstGeom prst="rect"><a:avLst/></a:prstGeom><a:noFill/><a:ln/></p:spPr><p:txBody><a:bodyPr wrap="none" lIns="0" tIns="0" rIns="0" bIns="0" rtlCol="0" anchor="t"/><a:lstStyle/><a:p><a:pPr marL="0" indent="0" algn="l"><a:lnSpc><a:spcPts val="2300"/></a:lnSpc><a:buNone/></a:pPr><a:r><a:rPr lang="en-US" sz="18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LightGBM Top Feature Importances</a:t></a:r><a:endParaRPr lang="en-US" sz="1850" dirty="0"/></a:p></p:txBody></p:sp><p:sp><p:nvSpPr><p:cNvPr id="13" name="Shape 11"/><p:cNvSpPr/><p:nvPr/></p:nvSpPr><p:spPr><a:xfrm><a:off x="6876574" y="2596277"/><a:ext cx="6999208" cy="4813697"/></a:xfrm><a:prstGeom prst="roundRect"><a:avLst><a:gd name="adj" fmla="val 1662"/></a:avLst></a:prstGeom><a:noFill/><a:ln w="7620"><a:solidFill><a:srgbClr val="000000"><a:alpha val="8000"/></a:srgbClr></a:solidFill><a:prstDash val="solid"/></a:ln></p:spPr><p:txBody><a:bodyPr/><a:lstStyle/><a:p><a:endParaRPr lang="en-IN"/></a:p></p:txBody></p:sp><p:sp><p:nvSpPr><p:cNvPr id="14" name="Shape 12"/><p:cNvSpPr/><p:nvPr/></p:nvSpPr><p:spPr><a:xfrm><a:off x="6884194" y="2603897"/><a:ext cx="6983968" cy="533162"/></a:xfrm><a:prstGeom prst="rect"><a:avLst/></a:prstGeom><a:solidFill><a:srgbClr val="FFFFFF"><a:alpha val="4000"/></a:srgbClr></a:solidFill><a:ln/></p:spPr><p:txBody><a:bodyPr/><a:lstStyle/><a:p><a:endParaRPr lang="en-IN"/></a:p></p:txBody></p:sp><p:sp><p:nvSpPr><p:cNvPr id="15" name="Text 13"/><p:cNvSpPr/><p:nvPr/></p:nvSpPr><p:spPr><a:xfrm><a:off x="7074694" y="2721173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b="1" dirty="0"><a:solidFill><a:srgbClr val="443728"/></a:solidFill><a:latin typeface="Open Sans" pitchFamily="34" charset="0"/><a:ea typeface="Open Sans" pitchFamily="34" charset="-122"/><a:cs typeface="Open Sans" pitchFamily="34" charset="-120"/></a:rPr><a:t>Feature</a:t></a:r><a:endParaRPr lang="en-US" sz="1500" dirty="0"/></a:p></p:txBody></p:sp><p:sp><p:nvSpPr><p:cNvPr id="16" name="Text 14"/><p:cNvSpPr/><p:nvPr/></p:nvSpPr><p:spPr><a:xfrm><a:off x="10570488" y="2721173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b="1" dirty="0"><a:solidFill><a:srgbClr val="443728"/></a:solidFill><a:latin typeface="Open Sans" pitchFamily="34" charset="0"/><a:ea typeface="Open Sans" pitchFamily="34" charset="-122"/><a:cs typeface="Open Sans" pitchFamily="34" charset="-120"/></a:rPr><a:t>Importance Score</a:t></a:r><a:endParaRPr lang="en-US" sz="1500" dirty="0"/></a:p></p:txBody></p:sp><p:sp><p:nvSpPr><p:cNvPr id="17" name="Shape 15"/><p:cNvSpPr/><p:nvPr/></p:nvSpPr><p:spPr><a:xfrm><a:off x="6884194" y="3137059"/><a:ext cx="6983968" cy="533162"/></a:xfrm><a:prstGeom prst="rect"><a:avLst/></a:prstGeom><a:solidFill><a:srgbClr val="000000"><a:alpha val="4000"/></a:srgbClr></a:solidFill><a:ln/></p:spPr><p:txBody><a:bodyPr/><a:lstStyle/><a:p><a:endParaRPr lang="en-IN"/></a:p></p:txBody></p:sp><p:sp><p:nvSpPr><p:cNvPr id="18" name="Text 16"/><p:cNvSpPr/><p:nvPr/></p:nvSpPr><p:spPr><a:xfrm><a:off x="7074694" y="3254335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num_lab_procedures</a:t></a:r><a:endParaRPr lang="en-US" sz="1500" dirty="0"/></a:p></p:txBody></p:sp><p:sp><p:nvSpPr><p:cNvPr id="19" name="Text 17"/><p:cNvSpPr/><p:nvPr/></p:nvSpPr><p:spPr><a:xfrm><a:off x="10570488" y="3254335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834</a:t></a:r><a:endParaRPr lang="en-US" sz="1500" dirty="0"/></a:p></p:txBody></p:sp><p:sp><p:nvSpPr><p:cNvPr id="20" name="Shape 18"/><p:cNvSpPr/><p:nvPr/></p:nvSpPr><p:spPr><a:xfrm><a:off x="6884194" y="3670221"/><a:ext cx="6983968" cy="533162"/></a:xfrm><a:prstGeom prst="rect"><a:avLst/></a:prstGeom><a:solidFill><a:srgbClr val="FFFFFF"><a:alpha val="4000"/></a:srgbClr></a:solidFill><a:ln/></p:spPr><p:txBody><a:bodyPr/><a:lstStyle/><a:p><a:endParaRPr lang="en-IN"/></a:p></p:txBody></p:sp><p:sp><p:nvSpPr><p:cNvPr id="21" name="Text 19"/><p:cNvSpPr/><p:nvPr/></p:nvSpPr><p:spPr><a:xfrm><a:off x="7074694" y="3787497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num_medications</a:t></a:r><a:endParaRPr lang="en-US" sz="1500" dirty="0"/></a:p></p:txBody></p:sp><p:sp><p:nvSpPr><p:cNvPr id="22" name="Text 20"/><p:cNvSpPr/><p:nvPr/></p:nvSpPr><p:spPr><a:xfrm><a:off x="10570488" y="3787497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670</a:t></a:r><a:endParaRPr lang="en-US" sz="1500" dirty="0"/></a:p></p:txBody></p:sp><p:sp><p:nvSpPr><p:cNvPr id="23" name="Shape 21"/><p:cNvSpPr/><p:nvPr/></p:nvSpPr><p:spPr><a:xfrm><a:off x="6884194" y="4203383"/><a:ext cx="6983968" cy="533162"/></a:xfrm><a:prstGeom prst="rect"><a:avLst/></a:prstGeom><a:solidFill><a:srgbClr val="000000"><a:alpha val="4000"/></a:srgbClr></a:solidFill><a:ln/></p:spPr><p:txBody><a:bodyPr/><a:lstStyle/><a:p><a:endParaRPr lang="en-IN"/></a:p></p:txBody></p:sp><p:sp><p:nvSpPr><p:cNvPr id="24" name="Text 22"/><p:cNvSpPr/><p:nvPr/></p:nvSpPr><p:spPr><a:xfrm><a:off x="7074694" y="4320659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time_in_hospital</a:t></a:r><a:endParaRPr lang="en-US" sz="1500" dirty="0"/></a:p></p:txBody></p:sp><p:sp><p:nvSpPr><p:cNvPr id="25" name="Text 23"/><p:cNvSpPr/><p:nvPr/></p:nvSpPr><p:spPr><a:xfrm><a:off x="10570488" y="4320659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489</a:t></a:r><a:endParaRPr lang="en-US" sz="1500" dirty="0"/></a:p></p:txBody></p:sp><p:sp><p:nvSpPr><p:cNvPr id="26" name="Shape 24"/><p:cNvSpPr/><p:nvPr/></p:nvSpPr><p:spPr><a:xfrm><a:off x="6884194" y="4736544"/><a:ext cx="6983968" cy="533162"/></a:xfrm><a:prstGeom prst="rect"><a:avLst/></a:prstGeom><a:solidFill><a:srgbClr val="FFFFFF"><a:alpha val="4000"/></a:srgbClr></a:solidFill><a:ln/></p:spPr><p:txBody><a:bodyPr/><a:lstStyle/><a:p><a:endParaRPr lang="en-IN"/></a:p></p:txBody></p:sp><p:sp><p:nvSpPr><p:cNvPr id="27" name="Text 25"/><p:cNvSpPr/><p:nvPr/></p:nvSpPr><p:spPr><a:xfrm><a:off x="7074694" y="4853821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age_numeric</a:t></a:r><a:endParaRPr lang="en-US" sz="1500" dirty="0"/></a:p></p:txBody></p:sp><p:sp><p:nvSpPr><p:cNvPr id="28" name="Text 26"/><p:cNvSpPr/><p:nvPr/></p:nvSpPr><p:spPr><a:xfrm><a:off x="10570488" y="4853821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366</a:t></a:r><a:endParaRPr lang="en-US" sz="1500" dirty="0"/></a:p></p:txBody></p:sp><p:sp><p:nvSpPr><p:cNvPr id="29" name="Shape 27"/><p:cNvSpPr/><p:nvPr/></p:nvSpPr><p:spPr><a:xfrm><a:off x="6884194" y="5269706"/><a:ext cx="6983968" cy="533162"/></a:xfrm><a:prstGeom prst="rect"><a:avLst/></a:prstGeom><a:solidFill><a:srgbClr val="000000"><a:alpha val="4000"/></a:srgbClr></a:solidFill><a:ln/></p:spPr><p:txBody><a:bodyPr/><a:lstStyle/><a:p><a:endParaRPr lang="en-IN"/></a:p></p:txBody></p:sp><p:sp><p:nvSpPr><p:cNvPr id="30" name="Text 28"/><p:cNvSpPr/><p:nvPr/></p:nvSpPr><p:spPr><a:xfrm><a:off x="7074694" y="5386983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number_diagnoses</a:t></a:r><a:endParaRPr lang="en-US" sz="1500" dirty="0"/></a:p></p:txBody></p:sp><p:sp><p:nvSpPr><p:cNvPr id="31" name="Text 29"/><p:cNvSpPr/><p:nvPr/></p:nvSpPr><p:spPr><a:xfrm><a:off x="10570488" y="5386983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293</a:t></a:r><a:endParaRPr lang="en-US" sz="1500" dirty="0"/></a:p></p:txBody></p:sp><p:sp><p:nvSpPr><p:cNvPr id="32" name="Shape 30"/><p:cNvSpPr/><p:nvPr/></p:nvSpPr><p:spPr><a:xfrm><a:off x="6884194" y="5802868"/><a:ext cx="6983968" cy="533162"/></a:xfrm><a:prstGeom prst="rect"><a:avLst/></a:prstGeom><a:solidFill><a:srgbClr val="FFFFFF"><a:alpha val="4000"/></a:srgbClr></a:solidFill><a:ln/></p:spPr><p:txBody><a:bodyPr/><a:lstStyle/><a:p><a:endParaRPr lang="en-IN"/></a:p></p:txBody></p:sp><p:sp><p:nvSpPr><p:cNvPr id="33" name="Text 31"/><p:cNvSpPr/><p:nvPr/></p:nvSpPr><p:spPr><a:xfrm><a:off x="7074694" y="5920145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num_procedures</a:t></a:r><a:endParaRPr lang="en-US" sz="1500" dirty="0"/></a:p></p:txBody></p:sp><p:sp><p:nvSpPr><p:cNvPr id="34" name="Text 32"/><p:cNvSpPr/><p:nvPr/></p:nvSpPr><p:spPr><a:xfrm><a:off x="10570488" y="5920145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273</a:t></a:r><a:endParaRPr lang="en-US" sz="1500" dirty="0"/></a:p></p:txBody></p:sp><p:sp><p:nvSpPr><p:cNvPr id="35" name="Shape 33"/><p:cNvSpPr/><p:nvPr/></p:nvSpPr><p:spPr><a:xfrm><a:off x="6884194" y="6336030"/><a:ext cx="6983968" cy="533162"/></a:xfrm><a:prstGeom prst="rect"><a:avLst/></a:prstGeom><a:solidFill><a:srgbClr val="000000"><a:alpha val="4000"/></a:srgbClr></a:solidFill><a:ln/></p:spPr><p:txBody><a:bodyPr/><a:lstStyle/><a:p><a:endParaRPr lang="en-IN"/></a:p></p:txBody></p:sp><p:sp><p:nvSpPr><p:cNvPr id="36" name="Text 34"/><p:cNvSpPr/><p:nvPr/></p:nvSpPr><p:spPr><a:xfrm><a:off x="7074694" y="6453307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number_inpatient</a:t></a:r><a:endParaRPr lang="en-US" sz="1500" dirty="0"/></a:p></p:txBody></p:sp><p:sp><p:nvSpPr><p:cNvPr id="37" name="Text 35"/><p:cNvSpPr/><p:nvPr/></p:nvSpPr><p:spPr><a:xfrm><a:off x="10570488" y="6453307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259</a:t></a:r><a:endParaRPr lang="en-US" sz="1500" dirty="0"/></a:p></p:txBody></p:sp><p:sp><p:nvSpPr><p:cNvPr id="38" name="Shape 36"/><p:cNvSpPr/><p:nvPr/></p:nvSpPr><p:spPr><a:xfrm><a:off x="6884194" y="6869192"/><a:ext cx="6983968" cy="533162"/></a:xfrm><a:prstGeom prst="rect"><a:avLst/></a:prstGeom><a:solidFill><a:srgbClr val="FFFFFF"><a:alpha val="4000"/></a:srgbClr></a:solidFill><a:ln/></p:spPr><p:txBody><a:bodyPr/><a:lstStyle/><a:p><a:endParaRPr lang="en-IN"/></a:p></p:txBody></p:sp><p:sp><p:nvSpPr><p:cNvPr id="39" name="Text 37"/><p:cNvSpPr/><p:nvPr/></p:nvSpPr><p:spPr><a:xfrm><a:off x="7074694" y="6986468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discharge_disposition (home)</a:t></a:r><a:endParaRPr lang="en-US" sz="1500" dirty="0"/></a:p></p:txBody></p:sp><p:sp><p:nvSpPr><p:cNvPr id="40" name="Text 38"/><p:cNvSpPr/><p:nvPr/></p:nvSpPr><p:spPr><a:xfrm><a:off x="10570488" y="6986468"/><a:ext cx="3107174" cy="298609"/></a:xfrm><a:prstGeom prst="rect"><a:avLst/></a:prstGeom><a:noFill/><a:ln/></p:spPr><p:txBody><a:bodyPr wrap="none" lIns="0" tIns="0" rIns="0" bIns="0" rtlCol="0" anchor="t"/><a:lstStyle/><a:p><a:pPr marL="0" indent="0" algn="l"><a:lnSpc><a:spcPts val="2350"/></a:lnSpc><a:buNone/></a:pPr><a:r><a:rPr lang="en-US" sz="1500" dirty="0"><a:solidFill><a:srgbClr val="443728"/></a:solidFill><a:latin typeface="Open Sans" pitchFamily="34" charset="0"/><a:ea typeface="Open Sans" pitchFamily="34" charset="-122"/><a:cs typeface="Open Sans" pitchFamily="34" charset="-120"/></a:rPr><a:t>100</a:t></a:r><a:endParaRPr lang="en-US" sz="1500" dirty="0"/></a:p></p:txBody></p:sp></p:spTree></p:cSld><p:clrMapOvr><a:masterClrMapping/></p:clrMapOvr></p:sld>
</file>

<file path=ppt/slides/slide17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7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1199674" y="566499"/><a:ext cx="786051" cy="269677"/></a:xfrm><a:prstGeom prst="roundRect"><a:avLst><a:gd name="adj" fmla="val 19325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1292662" y="612934"/><a:ext cx="600075" cy="176808"/></a:xfrm><a:prstGeom prst="rect"><a:avLst/></a:prstGeom><a:noFill/><a:ln/></p:spPr><p:txBody><a:bodyPr wrap="none" lIns="0" tIns="0" rIns="0" bIns="0" rtlCol="0" anchor="t"/><a:lstStyle/><a:p><a:pPr marL="0" indent="0" algn="l"><a:lnSpc><a:spcPts val="1350"/></a:lnSpc><a:buNone/></a:pPr><a:r><a:rPr lang="en-US" sz="950" dirty="0"><a:solidFill><a:srgbClr val="443728"/></a:solidFill><a:latin typeface="Open Sans" pitchFamily="34" charset="0"/><a:ea typeface="Open Sans" pitchFamily="34" charset="-122"/><a:cs typeface="Open Sans" pitchFamily="34" charset="-120"/></a:rPr><a:t>LIVE TOOL</a:t></a:r><a:endParaRPr lang="en-US" sz="950" dirty="0"/></a:p></p:txBody></p:sp><p:sp><p:nvSpPr><p:cNvPr id="4" name="Text 2"/><p:cNvSpPr/><p:nvPr/></p:nvSpPr><p:spPr><a:xfrm><a:off x="1199674" y="884634"/><a:ext cx="6924675" cy="484703"/></a:xfrm><a:prstGeom prst="rect"><a:avLst/></a:prstGeom><a:noFill/><a:ln/></p:spPr><p:txBody><a:bodyPr wrap="none" lIns="0" tIns="0" rIns="0" bIns="0" rtlCol="0" anchor="t"/><a:lstStyle/><a:p><a:pPr marL="0" indent="0" algn="l"><a:lnSpc><a:spcPts val="3800"/></a:lnSpc><a:buNone/></a:pPr><a:r><a:rPr lang="en-US" sz="30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The 30-Day Readmission Risk Predictor</a:t></a:r><a:endParaRPr lang="en-US" sz="3050" dirty="0"/></a:p></p:txBody></p:sp><p:sp><p:nvSpPr><p:cNvPr id="5" name="Text 3"/><p:cNvSpPr/><p:nvPr/></p:nvSpPr><p:spPr><a:xfrm><a:off x="1199674" y="1660208"/><a:ext cx="6556653" cy="221099"/></a:xfrm><a:prstGeom prst="rect"><a:avLst/></a:prstGeom><a:noFill/><a:ln/></p:spPr><p:txBody><a:bodyPr wrap="none" lIns="0" tIns="0" rIns="0" bIns="0" rtlCol="0" anchor="t"/><a:lstStyle/><a:p><a:pPr marL="0" indent="0" algn="l"><a:lnSpc><a:spcPts val="1700"/></a:lnSpc><a:buNone/></a:pPr><a:endParaRPr lang="en-US" sz="1200" dirty="0"/></a:p></p:txBody></p:sp><p:pic><p:nvPicPr><p:cNvPr id="6" name="Image 0" descr="preencoded.png"/><p:cNvPicPr><a:picLocks noChangeAspect="1"/></p:cNvPicPr><p:nvPr/></p:nvPicPr><p:blipFill><a:blip r:embed="rId3"/><a:stretch><a:fillRect/></a:stretch></p:blipFill><p:spPr><a:xfrm><a:off x="2022634" y="1614952"/><a:ext cx="5292566" cy="5581543"/></a:xfrm><a:prstGeom prst="rect"><a:avLst/></a:prstGeom></p:spPr></p:pic><p:sp><p:nvSpPr><p:cNvPr id="7" name="Text 4"/><p:cNvSpPr/><p:nvPr/></p:nvSpPr><p:spPr><a:xfrm><a:off x="1199674" y="7332821"/><a:ext cx="6556653" cy="221099"/></a:xfrm><a:prstGeom prst="rect"><a:avLst/></a:prstGeom><a:noFill/><a:ln/></p:spPr><p:txBody><a:bodyPr wrap="none" lIns="0" tIns="0" rIns="0" bIns="0" rtlCol="0" anchor="t"/><a:lstStyle/><a:p><a:pPr marL="0" indent="0" algn="l"><a:lnSpc><a:spcPts val="1700"/></a:lnSpc><a:buNone/></a:pPr><a:endParaRPr lang="en-US" sz="1200" dirty="0"/></a:p></p:txBody></p:sp><p:sp><p:nvSpPr><p:cNvPr id="8" name="Text 5"/><p:cNvSpPr/><p:nvPr/></p:nvSpPr><p:spPr><a:xfrm><a:off x="8142327" y="1565672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How It Works</a:t></a:r><a:endParaRPr lang="en-US" dirty="0"/></a:p></p:txBody></p:sp><p:sp><p:nvSpPr><p:cNvPr id="9" name="Text 6"/><p:cNvSpPr/><p:nvPr/></p:nvSpPr><p:spPr><a:xfrm><a:off x="8142327" y="1929170"/><a:ext cx="5295781" cy="663297"/></a:xfrm><a:prstGeom prst="rect"><a:avLst/></a:prstGeom><a:noFill/><a:ln/></p:spPr><p:txBody><a:bodyPr wrap="square" lIns="0" tIns="0" rIns="0" bIns="0" rtlCol="0" anchor="t"/><a:lstStyle/><a:p><a:pPr marL="0" indent="0" algn="l"><a:lnSpc><a:spcPts val="1700"/></a:lnSpc><a:buNone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An interactive risk scoring interface powered by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LightGBM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. Ingests patient encounter details at the point of discharge and outputs a real-time </a:t></a:r><a:r><a:rPr lang="en-US" sz="1600" b="1" dirty="0"><a:solidFill><a:srgbClr val="443728"/></a:solidFill><a:latin typeface="Open Sans" pitchFamily="34" charset="0"/><a:ea typeface="Open Sans" pitchFamily="34" charset="-122"/><a:cs typeface="Open Sans" pitchFamily="34" charset="-120"/></a:rPr><a:t>30-day readmission probability percentage</a:t></a: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.</a:t></a:r><a:endParaRPr lang="en-US" sz="1600" dirty="0"/></a:p></p:txBody></p:sp><p:sp><p:nvSpPr><p:cNvPr id="10" name="Shape 7"/><p:cNvSpPr/><p:nvPr/></p:nvSpPr><p:spPr><a:xfrm><a:off x="8142327" y="2912945"/><a:ext cx="5295781" cy="26908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11" name="Text 8"/><p:cNvSpPr/><p:nvPr/></p:nvSpPr><p:spPr><a:xfrm><a:off x="8142327" y="3076099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15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Risk Tiers</a:t></a:r><a:endParaRPr lang="en-US" sz="1500" dirty="0"/></a:p></p:txBody></p:sp><p:sp><p:nvSpPr><p:cNvPr id="12" name="Shape 9"/><p:cNvSpPr/><p:nvPr/></p:nvSpPr><p:spPr><a:xfrm><a:off x="8142327" y="3454717"/><a:ext cx="2587228" cy="567571"/></a:xfrm><a:prstGeom prst="roundRect"><a:avLst><a:gd name="adj" fmla="val 11478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13" name="Text 10"/><p:cNvSpPr/><p:nvPr/></p:nvSpPr><p:spPr><a:xfrm><a:off x="8304967" y="3617357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1500" b="1" dirty="0"><a:solidFill><a:srgbClr val="000000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🟢</a:t></a:r><a:r><a:rPr lang="en-US" sz="15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 Low</a:t></a:r><a:endParaRPr lang="en-US" sz="1500" dirty="0"/></a:p></p:txBody></p:sp><p:sp><p:nvSpPr><p:cNvPr id="14" name="Shape 11"/><p:cNvSpPr/><p:nvPr/></p:nvSpPr><p:spPr><a:xfrm><a:off x="10850761" y="3454717"/><a:ext cx="2587347" cy="567571"/></a:xfrm><a:prstGeom prst="roundRect"><a:avLst><a:gd name="adj" fmla="val 11478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15" name="Text 12"/><p:cNvSpPr/><p:nvPr/></p:nvSpPr><p:spPr><a:xfrm><a:off x="11013400" y="3617357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1500" b="1" dirty="0"><a:solidFill><a:srgbClr val="000000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🟡</a:t></a:r><a:r><a:rPr lang="en-US" sz="15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 Moderate</a:t></a:r><a:endParaRPr lang="en-US" sz="1500" dirty="0"/></a:p></p:txBody></p:sp><p:sp><p:nvSpPr><p:cNvPr id="16" name="Shape 13"/><p:cNvSpPr/><p:nvPr/></p:nvSpPr><p:spPr><a:xfrm><a:off x="8142327" y="4143494"/><a:ext cx="2587228" cy="567571"/></a:xfrm><a:prstGeom prst="roundRect"><a:avLst><a:gd name="adj" fmla="val 11478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17" name="Text 14"/><p:cNvSpPr/><p:nvPr/></p:nvSpPr><p:spPr><a:xfrm><a:off x="8304967" y="4306133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1500" b="1" dirty="0"><a:solidFill><a:srgbClr val="000000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🟠</a:t></a:r><a:r><a:rPr lang="en-US" sz="15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 High</a:t></a:r><a:endParaRPr lang="en-US" sz="1500" dirty="0"/></a:p></p:txBody></p:sp><p:sp><p:nvSpPr><p:cNvPr id="18" name="Shape 15"/><p:cNvSpPr/><p:nvPr/></p:nvSpPr><p:spPr><a:xfrm><a:off x="10850761" y="4143494"/><a:ext cx="2587347" cy="567571"/></a:xfrm><a:prstGeom prst="roundRect"><a:avLst><a:gd name="adj" fmla="val 11478"/></a:avLst></a:prstGeom><a:solidFill><a:srgbClr val="EBE2E0"/></a:solidFill><a:ln w="7620"><a:solidFill><a:srgbClr val="D1C8C6"/></a:solidFill><a:prstDash val="solid"/></a:ln></p:spPr><p:txBody><a:bodyPr/><a:lstStyle/><a:p><a:endParaRPr lang="en-IN"/></a:p></p:txBody></p:sp><p:sp><p:nvSpPr><p:cNvPr id="19" name="Text 16"/><p:cNvSpPr/><p:nvPr/></p:nvSpPr><p:spPr><a:xfrm><a:off x="11013400" y="4306133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1500" b="1" dirty="0"><a:solidFill><a:srgbClr val="000000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🔴</a:t></a:r><a:r><a:rPr lang="en-US" sz="15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 Very High</a:t></a:r><a:endParaRPr lang="en-US" sz="1500" dirty="0"/></a:p></p:txBody></p:sp><p:sp><p:nvSpPr><p:cNvPr id="20" name="Shape 17"/><p:cNvSpPr/><p:nvPr/></p:nvSpPr><p:spPr><a:xfrm><a:off x="8142327" y="4924863"/><a:ext cx="5295781" cy="26908"/></a:xfrm><a:prstGeom prst="rect"><a:avLst/></a:prstGeom><a:solidFill><a:srgbClr val="443728"><a:alpha val="50000"/></a:srgbClr></a:solidFill><a:ln/></p:spPr><p:txBody><a:bodyPr/><a:lstStyle/><a:p><a:endParaRPr lang="en-IN"/></a:p></p:txBody></p:sp><p:sp><p:nvSpPr><p:cNvPr id="21" name="Text 18"/><p:cNvSpPr/><p:nvPr/></p:nvSpPr><p:spPr><a:xfrm><a:off x="8142327" y="5545217"/><a:ext cx="1938695" cy="242292"/></a:xfrm><a:prstGeom prst="rect"><a:avLst/></a:prstGeom><a:noFill/><a:ln/></p:spPr><p:txBody><a:bodyPr wrap="none" lIns="0" tIns="0" rIns="0" bIns="0" rtlCol="0" anchor="t"/><a:lstStyle/><a:p><a:pPr marL="0" indent="0" algn="l"><a:lnSpc><a:spcPts val="1900"/></a:lnSpc><a:buNone/></a:pPr><a:r><a:rPr lang="en-US" sz="20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Key Inputs</a:t></a:r><a:endParaRPr lang="en-US" sz="2000" dirty="0"/></a:p></p:txBody></p:sp><p:sp><p:nvSpPr><p:cNvPr id="22" name="Text 19"/><p:cNvSpPr/><p:nvPr/></p:nvSpPr><p:spPr><a:xfrm><a:off x="8142327" y="5908715"/><a:ext cx="5295781" cy="1011555"/></a:xfrm><a:prstGeom prst="rect"><a:avLst/></a:prstGeom><a:noFill/><a:ln/></p:spPr><p:txBody><a:bodyPr wrap="square" lIns="0" tIns="0" rIns="0" bIns="0" rtlCol="0" anchor="t"/><a:lstStyle/><a:p><a:pPr marL="342900" indent="-342900" algn="l"><a:lnSpc><a:spcPts val="1700"/></a:lnSpc><a:buSzPct val="100000"/><a:buChar char="•"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Prior inpatient stays &amp; ER visits</a:t></a:r><a:endParaRPr lang="en-US" sz="1600" dirty="0"/></a:p><a:p><a:pPr marL="342900" indent="-342900" algn="l"><a:lnSpc><a:spcPts val="1700"/></a:lnSpc><a:buSzPct val="100000"/><a:buChar char="•"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Clinical complexity (diagnoses, medications, lab procedures)</a:t></a:r><a:endParaRPr lang="en-US" sz="1600" dirty="0"/></a:p><a:p><a:pPr marL="342900" indent="-342900" algn="l"><a:lnSpc><a:spcPts val="1700"/></a:lnSpc><a:buSzPct val="100000"/><a:buChar char="•"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Discharge disposition &amp; admission type</a:t></a:r><a:endParaRPr lang="en-US" sz="1600" dirty="0"/></a:p><a:p><a:pPr marL="342900" indent="-342900" algn="l"><a:lnSpc><a:spcPts val="1700"/></a:lnSpc><a:buSzPct val="100000"/><a:buChar char="•"/></a:pPr><a:r><a:rPr lang="en-US" sz="1600" dirty="0"><a:solidFill><a:srgbClr val="443728"/></a:solidFill><a:latin typeface="Open Sans" pitchFamily="34" charset="0"/><a:ea typeface="Open Sans" pitchFamily="34" charset="-122"/><a:cs typeface="Open Sans" pitchFamily="34" charset="-120"/></a:rPr><a:t>Insulin use &amp; medication change status</a:t></a:r><a:endParaRPr lang="en-US" sz="1600" dirty="0"/></a:p></p:txBody></p:sp></p:spTree></p:cSld><p:clrMapOvr><a:masterClrMapping/></p:clrMapOvr></p:sld>
</file>

<file path=ppt/slides/slide18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 name="Slide 18"><p:spTree><p:nvGrpSpPr><p:cNvPr id="1" name=""/><p:cNvGrpSpPr/><p:nvPr/></p:nvGrpSpPr><p:grpSpPr><a:xfrm><a:off x="0" y="0"/><a:ext cx="0" cy="0"/><a:chOff x="0" y="0"/><a:chExt cx="0" cy="0"/></a:xfrm></p:grpSpPr><p:sp><p:nvSpPr><p:cNvPr id="2" name="Shape 0"/><p:cNvSpPr/><p:nvPr/></p:nvSpPr><p:spPr><a:xfrm><a:off x="793790" y="1198364"/><a:ext cx="1253966" cy="373142"/></a:xfrm><a:prstGeom prst="roundRect"><a:avLst><a:gd name="adj" fmla="val 17872"/></a:avLst></a:prstGeom><a:solidFill><a:srgbClr val="EBE2E0"/></a:solidFill><a:ln/></p:spPr><p:txBody><a:bodyPr/><a:lstStyle/><a:p><a:endParaRPr lang="en-IN"/></a:p></p:txBody></p:sp><p:sp><p:nvSpPr><p:cNvPr id="3" name="Text 1"/><p:cNvSpPr/><p:nvPr/></p:nvSpPr><p:spPr><a:xfrm><a:off x="912852" y="1257895"/><a:ext cx="1015841" cy="254079"/></a:xfrm><a:prstGeom prst="rect"><a:avLst/></a:prstGeom><a:noFill/><a:ln/></p:spPr><p:txBody><a:bodyPr wrap="none" lIns="0" tIns="0" rIns="0" bIns="0" rtlCol="0" anchor="t"/><a:lstStyle/><a:p><a:pPr marL="0" indent="0" algn="l"><a:lnSpc><a:spcPts val="2000"/></a:lnSpc><a:buNone/></a:pPr><a:r><a:rPr lang="en-US" sz="1250" dirty="0"><a:solidFill><a:srgbClr val="443728"/></a:solidFill><a:latin typeface="Open Sans" pitchFamily="34" charset="0"/><a:ea typeface="Open Sans" pitchFamily="34" charset="-122"/><a:cs typeface="Open Sans" pitchFamily="34" charset="-120"/></a:rPr><a:t>CONCLUSION</a:t></a:r><a:endParaRPr lang="en-US" sz="1250" dirty="0"/></a:p></p:txBody></p:sp><p:sp><p:nvSpPr><p:cNvPr id="4" name="Text 2"/><p:cNvSpPr/><p:nvPr/></p:nvSpPr><p:spPr><a:xfrm><a:off x="793790" y="1650802"/><a:ext cx="8050887" cy="620078"/></a:xfrm><a:prstGeom prst="rect"><a:avLst/></a:prstGeom><a:noFill/><a:ln/></p:spPr><p:txBody><a:bodyPr wrap="none" lIns="0" tIns="0" rIns="0" bIns="0" rtlCol="0" anchor="t"/><a:lstStyle/><a:p><a:pPr marL="0" indent="0" algn="l"><a:lnSpc><a:spcPts val="4850"/></a:lnSpc><a:buNone/></a:pPr><a:r><a:rPr lang="en-US" sz="390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Clinical Implications &amp; Future Scope</a:t></a:r><a:endParaRPr lang="en-US" sz="3900" dirty="0"/></a:p></p:txBody></p:sp><p:pic><p:nvPicPr><p:cNvPr id="5" name="Image 0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3"/></a:ext></a:extLst></a:blip><a:stretch><a:fillRect/></a:stretch></p:blipFill><p:spPr><a:xfrm><a:off x="793790" y="2568535"/><a:ext cx="496133" cy="496133"/></a:xfrm><a:prstGeom prst="rect"><a:avLst/></a:prstGeom></p:spPr></p:pic><p:sp><p:nvSpPr><p:cNvPr id="6" name="Text 3"/><p:cNvSpPr/><p:nvPr/></p:nvSpPr><p:spPr><a:xfrm><a:off x="793790" y="3312676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Actionable Insights</a:t></a:r><a:endParaRPr lang="en-US" sz="1950" dirty="0"/></a:p></p:txBody></p:sp><p:sp><p:nvSpPr><p:cNvPr id="7" name="Text 4"/><p:cNvSpPr/><p:nvPr/></p:nvSpPr><p:spPr><a:xfrm><a:off x="793790" y="3741896"/><a:ext cx="4182189" cy="158769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Hospitals can use this pipeline to target the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top 20% of high-risk patients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with follow-up calls, medication reviews, and structured care plans  -  reducing avoidable 30-day returns and associated costs.</a:t></a:r><a:endParaRPr lang="en-US" sz="1550" dirty="0"/></a:p></p:txBody></p:sp><p:pic><p:nvPicPr><p:cNvPr id="8" name="Image 1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4"/></a:ext></a:extLst></a:blip><a:stretch><a:fillRect/></a:stretch></p:blipFill><p:spPr><a:xfrm><a:off x="5223986" y="2568535"/><a:ext cx="496133" cy="496133"/></a:xfrm><a:prstGeom prst="rect"><a:avLst/></a:prstGeom></p:spPr></p:pic><p:sp><p:nvSpPr><p:cNvPr id="9" name="Text 5"/><p:cNvSpPr/><p:nvPr/></p:nvSpPr><p:spPr><a:xfrm><a:off x="5223986" y="3312676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Known Limitations</a:t></a:r><a:endParaRPr lang="en-US" sz="1950" dirty="0"/></a:p></p:txBody></p:sp><p:sp><p:nvSpPr><p:cNvPr id="10" name="Text 6"/><p:cNvSpPr/><p:nvPr/></p:nvSpPr><p:spPr><a:xfrm><a:off x="5223986" y="3741896"/><a:ext cx="4182308" cy="190523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The dataset spans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1999–2008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, meaning modern clinical practices, medications, and care protocols have evolved significantly.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External validation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on contemporary data is required before any actual clinical deployment.</a:t></a:r><a:endParaRPr lang="en-US" sz="1550" dirty="0"/></a:p></p:txBody></p:sp><p:pic><p:nvPicPr><p:cNvPr id="11" name="Image 2" descr="preencoded.png"/><p:cNvPicPr><a:picLocks noChangeAspect="1"/></p:cNvPicPr><p:nvPr/></p:nvPicPr><p:blipFill><a:blip><a:extLst><a:ext uri="{96DAC541-7B7A-43D3-8B79-37D633B846F1}"><asvg:svgBlip xmlns:asvg="http://schemas.microsoft.com/office/drawing/2016/SVG/main" r:embed="rId5"/></a:ext></a:extLst></a:blip><a:stretch><a:fillRect/></a:stretch></p:blipFill><p:spPr><a:xfrm><a:off x="9654302" y="2568535"/><a:ext cx="496133" cy="496133"/></a:xfrm><a:prstGeom prst="rect"><a:avLst/></a:prstGeom></p:spPr></p:pic><p:sp><p:nvSpPr><p:cNvPr id="12" name="Text 7"/><p:cNvSpPr/><p:nvPr/></p:nvSpPr><p:spPr><a:xfrm><a:off x="9654302" y="3312676"/><a:ext cx="2480905" cy="310158"/></a:xfrm><a:prstGeom prst="rect"><a:avLst/></a:prstGeom><a:noFill/><a:ln/></p:spPr><p:txBody><a:bodyPr wrap="none" lIns="0" tIns="0" rIns="0" bIns="0" rtlCol="0" anchor="t"/><a:lstStyle/><a:p><a:pPr marL="0" indent="0" algn="l"><a:lnSpc><a:spcPts val="2400"/></a:lnSpc><a:buNone/></a:pPr><a:r><a:rPr lang="en-US" sz="1950" b="1" dirty="0"><a:solidFill><a:srgbClr val="443728"/></a:solidFill><a:latin typeface="Roboto" panose="02000000000000000000" pitchFamily="2" charset="0"/><a:ea typeface="Roboto" panose="02000000000000000000" pitchFamily="2" charset="0"/><a:cs typeface="Roboto" panose="02000000000000000000" pitchFamily="2" charset="0"/></a:rPr><a:t>Future Scope</a:t></a:r><a:endParaRPr lang="en-US" sz="1950" dirty="0"/></a:p></p:txBody></p:sp><p:sp><p:nvSpPr><p:cNvPr id="13" name="Text 8"/><p:cNvSpPr/><p:nvPr/></p:nvSpPr><p:spPr><a:xfrm><a:off x="9654302" y="3741896"/><a:ext cx="4182308" cy="1905238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Integrate </a:t></a:r><a:r><a:rPr lang="en-US" sz="1550" b="1" dirty="0"><a:solidFill><a:srgbClr val="443728"/></a:solidFill><a:latin typeface="Open Sans" pitchFamily="34" charset="0"/><a:ea typeface="Open Sans" pitchFamily="34" charset="-122"/><a:cs typeface="Open Sans" pitchFamily="34" charset="-120"/></a:rPr><a:t>real-time EHR data</a:t></a:r><a:r><a:rPr lang="en-US" sz="1550" dirty="0"><a:solidFill><a:srgbClr val="443728"/></a:solidFill><a:latin typeface="Open Sans" pitchFamily="34" charset="0"/><a:ea typeface="Open Sans" pitchFamily="34" charset="-122"/><a:cs typeface="Open Sans" pitchFamily="34" charset="-120"/></a:rPr><a:t> for live scoring. Engineer more complex feature interactions (e.g., prior utilisation score). Apply probability threshold tuning and explore SHAP-based explainability for clinical trust.</a:t></a:r><a:endParaRPr lang="en-US" sz="1550" dirty="0"/></a:p></p:txBody></p:sp><p:sp><p:nvSpPr><p:cNvPr id="14" name="Shape 9"/><p:cNvSpPr/><p:nvPr/></p:nvSpPr><p:spPr><a:xfrm><a:off x="793790" y="5870377"/><a:ext cx="13042821" cy="1160740"/></a:xfrm><a:prstGeom prst="roundRect"><a:avLst><a:gd name="adj" fmla="val 7182"/></a:avLst></a:prstGeom><a:solidFill><a:srgbClr val="E1D4D0"/></a:solidFill><a:ln/></p:spPr><p:txBody><a:bodyPr/><a:lstStyle/><a:p><a:endParaRPr lang="en-IN"/></a:p></p:txBody></p:sp><p:pic><p:nvPicPr><p:cNvPr id="15" name="Image 3" descr="preencoded.png"/><p:cNvPicPr><a:picLocks noChangeAspect="1"/></p:cNvPicPr><p:nvPr/></p:nvPicPr><p:blipFill><a:blip r:embed="rId6"/><a:stretch><a:fillRect/></a:stretch></p:blipFill><p:spPr><a:xfrm><a:off x="992148" y="6173272"/><a:ext cx="248007" cy="198358"/></a:xfrm><a:prstGeom prst="rect"><a:avLst/></a:prstGeom></p:spPr></p:pic><p:sp><p:nvSpPr><p:cNvPr id="16" name="Text 10"/><p:cNvSpPr/><p:nvPr/></p:nvSpPr><p:spPr><a:xfrm><a:off x="1438513" y="6118265"/><a:ext cx="12199739" cy="635079"/></a:xfrm><a:prstGeom prst="rect"><a:avLst/></a:prstGeom><a:noFill/><a:ln/></p:spPr><p:txBody><a:bodyPr wrap="square" lIns="0" tIns="0" rIns="0" bIns="0" rtlCol="0" anchor="t"/><a:lstStyle/><a:p><a:pPr marL="0" indent="0" algn="l"><a:lnSpc><a:spcPts val="2500"/></a:lnSpc><a:buNone/></a:pPr><a:r><a:rPr lang="en-US" sz="1550" dirty="0"><a:solidFill><a:srgbClr val="000000"/></a:solidFill><a:latin typeface="Open Sans" pitchFamily="34" charset="0"/><a:ea typeface="Open Sans" pitchFamily="34" charset="-122"/><a:cs typeface="Open Sans" pitchFamily="34" charset="-120"/></a:rPr><a:t>In scope: data cleaning, EDA, feature engineering, model building, and evaluation. Out of scope: real-time clinical deployment and integration with live hospital systems.</a:t></a:r><a:endParaRPr lang="en-US" sz="1550" dirty="0"/></a:p></p:txBody></p:sp></p:spTree></p:cSld><p:clrMapOvr><a:masterClrMapping/></p:clrMapOvr></p:sld>
</file>

<file path=ppt/slides/slide19.xml>< - xml version="1.0" encoding="UTF-8" standalone="yes" - >
<p:sld xmlns:a="http://schemas.openxmlformats.org/drawingml/2006/main" xmlns:r="http://schemas.openxmlformats.org/officeDocument/2006/relationships" xmlns:p="http://schemas.openxmlformats.org/presentationml/2006/main"><p:cSld><p:bg><p:bgPr><a:solidFill><a:schemeClr val="bg1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1031" name="Rectangle 1030"><a:extLst><a:ext uri="{FF2B5EF4-FFF2-40B4-BE49-F238E27FC236}"><a16:creationId xmlns:a16="http://schemas.microsoft.com/office/drawing/2014/main" id="{F3060C83-F051-4F0E-ABAD-AA0DFC48B218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><a:off x="0" y="0"/><a:ext cx="14630400" cy="8229600"/></a:xfrm><a:prstGeom prst="rect"><a:avLst/></a:prstGeom><a:solidFill><a:schemeClr val="bg1"/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 dirty="0"/></a:p></p:txBody></p:sp><p:sp><p:nvSpPr><p:cNvPr id="1033" name="Freeform: Shape 1032"><a:extLst><a:ext uri="{FF2B5EF4-FFF2-40B4-BE49-F238E27FC236}"><a16:creationId xmlns:a16="http://schemas.microsoft.com/office/drawing/2014/main" id="{83C98ABE-055B-441F-B07E-44F97F083C39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rot="18900000" flipH="1"><a:off x="-451387" y="-304404"/><a:ext cx="2193165" cy="1652386"/></a:xfrm><a:custGeom><a:avLst/><a:gdLst><a:gd name="connsiteX0" fmla="*/ 0 w 1827638"/><a:gd name="connsiteY0" fmla="*/ 987379 h 1376989"/><a:gd name="connsiteX1" fmla="*/ 987379 w 1827638"/><a:gd name="connsiteY1" fmla="*/ 0 h 1376989"/><a:gd name="connsiteX2" fmla="*/ 1827638 w 1827638"/><a:gd name="connsiteY2" fmla="*/ 840260 h 1376989"/><a:gd name="connsiteX3" fmla="*/ 1827638 w 1827638"/><a:gd name="connsiteY3" fmla="*/ 1376989 h 1376989"/><a:gd name="connsiteX4" fmla="*/ 0 w 1827638"/><a:gd name="connsiteY4" fmla="*/ 1376989 h 1376989"/></a:gdLst><a:ahLst/><a:cxnLst><a:cxn ang="0"><a:pos x="connsiteX0" y="connsiteY0"/></a:cxn><a:cxn ang="0"><a:pos x="connsiteX1" y="connsiteY1"/></a:cxn><a:cxn ang="0"><a:pos x="connsiteX2" y="connsiteY2"/></a:cxn><a:cxn ang="0"><a:pos x="connsiteX3" y="connsiteY3"/></a:cxn><a:cxn ang="0"><a:pos x="connsiteX4" y="connsiteY4"/></a:cxn></a:cxnLst><a:rect l="l" t="t" r="r" b="b"/><a:pathLst><a:path w="1827638" h="1376989"><a:moveTo><a:pt x="0" y="987379"/></a:moveTo><a:lnTo><a:pt x="987379" y="0"/></a:lnTo><a:lnTo><a:pt x="1827638" y="840260"/></a:lnTo><a:lnTo><a:pt x="1827638" y="1376989"/></a:lnTo><a:lnTo><a:pt x="0" y="1376989"/></a:lnTo><a:close/></a:path></a:pathLst></a:custGeom><a:solidFill><a:schemeClr val="accent1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 dirty="0"/></a:p></p:txBody></p:sp><p:sp><p:nvSpPr><p:cNvPr id="1035" name="Rectangle 1034"><a:extLst><a:ext uri="{FF2B5EF4-FFF2-40B4-BE49-F238E27FC236}"><a16:creationId xmlns:a16="http://schemas.microsoft.com/office/drawing/2014/main" id="{29FDB030-9B49-4CED-8CCD-4D99382388AC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rot="18900000" flipH="1"><a:off x="1069969" y="506575"/><a:ext cx="774441" cy="774441"/></a:xfrm><a:prstGeom prst="rect"><a:avLst/></a:prstGeom><a:solidFill><a:schemeClr val="accent1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/></a:p></p:txBody></p:sp><p:sp><p:nvSpPr><p:cNvPr id="1037" name="Rectangle 1036"><a:extLst><a:ext uri="{FF2B5EF4-FFF2-40B4-BE49-F238E27FC236}"><a16:creationId xmlns:a16="http://schemas.microsoft.com/office/drawing/2014/main" id="{3783CA14-24A1-485C-8B30-D6A5D87987AD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rot="18900000" flipH="1"><a:off x="12052178" y="786168"/><a:ext cx="824966" cy="824966"/></a:xfrm><a:prstGeom prst="rect"><a:avLst/></a:prstGeom><a:solidFill><a:schemeClr val="accent4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/></a:p></p:txBody></p:sp><p:sp><p:nvSpPr><p:cNvPr id="1039" name="Freeform: Shape 1038"><a:extLst><a:ext uri="{FF2B5EF4-FFF2-40B4-BE49-F238E27FC236}"><a16:creationId xmlns:a16="http://schemas.microsoft.com/office/drawing/2014/main" id="{9A97C86A-04D6-40F7-AE84-31AB43E6A846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rot="10800000" flipH="1"><a:off x="11227971" y="0"/><a:ext cx="3402429" cy="1777004"/></a:xfrm><a:custGeom><a:avLst/><a:gdLst><a:gd name="connsiteX0" fmla="*/ 2835357 w 2835357"/><a:gd name="connsiteY0" fmla="*/ 1480837 h 1480837"/><a:gd name="connsiteX1" fmla="*/ 0 w 2835357"/><a:gd name="connsiteY1" fmla="*/ 1480837 h 1480837"/><a:gd name="connsiteX2" fmla="*/ 1552727 w 2835357"/><a:gd name="connsiteY2" fmla="*/ 0 h 1480837"/><a:gd name="connsiteX3" fmla="*/ 2835357 w 2835357"/><a:gd name="connsiteY3" fmla="*/ 1223245 h 1480837"/></a:gdLst><a:ahLst/><a:cxnLst><a:cxn ang="0"><a:pos x="connsiteX0" y="connsiteY0"/></a:cxn><a:cxn ang="0"><a:pos x="connsiteX1" y="connsiteY1"/></a:cxn><a:cxn ang="0"><a:pos x="connsiteX2" y="connsiteY2"/></a:cxn><a:cxn ang="0"><a:pos x="connsiteX3" y="connsiteY3"/></a:cxn></a:cxnLst><a:rect l="l" t="t" r="r" b="b"/><a:pathLst><a:path w="2835357" h="1480837"><a:moveTo><a:pt x="2835357" y="1480837"/></a:moveTo><a:lnTo><a:pt x="0" y="1480837"/></a:lnTo><a:lnTo><a:pt x="1552727" y="0"/></a:lnTo><a:lnTo><a:pt x="2835357" y="1223245"/></a:lnTo><a:close/></a:path></a:pathLst></a:custGeom><a:solidFill><a:schemeClr val="accent4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wrap="square" rtlCol="0" anchor="ctr"><a:noAutofit/></a:bodyPr><a:lstStyle/><a:p><a:pPr algn="ctr"/><a:endParaRPr lang="en-US" dirty="0"/></a:p></p:txBody></p:sp><p:sp><p:nvSpPr><p:cNvPr id="1041" name="Isosceles Triangle 1040"><a:extLst><a:ext uri="{FF2B5EF4-FFF2-40B4-BE49-F238E27FC236}"><a16:creationId xmlns:a16="http://schemas.microsoft.com/office/drawing/2014/main" id="{FF9F2414-84E8-453E-B1F3-389FDE8192D9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flipH="1"><a:off x="9571612" y="7338601"/><a:ext cx="1793416" cy="890999"/></a:xfrm><a:prstGeom prst="triangle"><a:avLst/></a:prstGeom><a:solidFill><a:schemeClr val="accent1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/></a:p></p:txBody></p:sp><p:pic><p:nvPicPr><p:cNvPr id="1026" name="Picture 2" descr="This may contain: a thank card with the words thank you in brown and beige colors on a white background"><a:extLst><a:ext uri="{FF2B5EF4-FFF2-40B4-BE49-F238E27FC236}"><a16:creationId xmlns:a16="http://schemas.microsoft.com/office/drawing/2014/main" id="{0CBBE7FC-4158-3840-083D-21A89A4B2180}"/></a:ext></a:extLst></p:cNvPr><p:cNvPicPr><a:picLocks noChangeAspect="1" noChangeArrowheads="1"/></p:cNvPicPr><p:nvPr/></p:nvPicPr><p:blipFill><a:blip r:embed="rId2"><a:extLst><a:ext uri="{28A0092B-C50C-407E-A947-70E740481C1C}"><a14:useLocalDpi xmlns:a14="http://schemas.microsoft.com/office/drawing/2010/main" val="0"/></a:ext></a:extLst></a:blip><a:stretch><a:fillRect/></a:stretch></p:blipFill><p:spPr bwMode="auto"><a:xfrm><a:off x="2607257" y="772160"/><a:ext cx="9415884" cy="6685278"/></a:xfrm><a:prstGeom prst="rect"><a:avLst/></a:prstGeom><a:noFill/><a:ln><a:noFill/></a:ln><a:extLst><a:ext uri="{909E8E84-426E-40DD-AFC4-6F175D3DCCD1}"><a14:hiddenFill xmlns:a14="http://schemas.microsoft.com/office/drawing/2010/main"><a:solidFill><a:srgbClr val="FFFFFF"/></a:solidFill></a14:hiddenFill></a:ext></a:extLst></p:spPr></p:pic><p:sp><p:nvSpPr><p:cNvPr id="1043" name="Isosceles Triangle 1042"><a:extLst><a:ext uri="{FF2B5EF4-FFF2-40B4-BE49-F238E27FC236}"><a16:creationId xmlns:a16="http://schemas.microsoft.com/office/drawing/2014/main" id="{3ECA69A1-7536-43AC-85EF-C7106179F5ED}"/></a:ext><a:ext uri="{C183D7F6-B498-43B3-948B-1728B52AA6E4}"><adec:decorative xmlns:adec="http://schemas.microsoft.com/office/drawing/2017/decorative" val="1"/></a:ext></a:extLst></p:cNvPr><p:cNvSpPr><a:spLocks noGrp="1" noRot="1" noChangeAspect="1" noMove="1" noResize="1" noEditPoints="1" noAdjustHandles="1" noChangeArrowheads="1" noChangeShapeType="1" noTextEdit="1"/></p:cNvSpPr><p:nvPr><p:extLst><p:ext uri="{386F3935-93C4-4BCD-93E2-E3B085C9AB24}"><p16:designElem xmlns:p16="http://schemas.microsoft.com/office/powerpoint/2015/main" val="1"/></p:ext></p:extLst></p:nvPr></p:nvSpPr><p:spPr><a:xfrm flipH="1"><a:off x="9124896" y="7743771"/><a:ext cx="977883" cy="485829"/></a:xfrm><a:prstGeom prst="triangle"><a:avLst/></a:prstGeom><a:solidFill><a:schemeClr val="accent1"><a:alpha val="30000"/></a:schemeClr></a:solidFill><a:ln><a:noFill/></a:ln></p:spPr><p:style><a:lnRef idx="2"><a:schemeClr val="accent1"><a:shade val="50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ctr"/><a:endParaRPr lang="en-US"/></a:p></p:txBody></p:sp></p:spTree><p:extLst><p:ext uri="{BB962C8B-B14F-4D97-AF65-F5344CB8AC3E}"><p14:creationId xmlns:p14="http://schemas.microsoft.com/office/powerpoint/2010/main" val="3879495236"/></p:ext></p:extLst></p:cSld><p:clrMapOvr><a:masterClrMapping/></p:clrMapOvr></p:sld>
</file>

<file path=ppt/theme/theme1.xml>< - xml version="1.0" encoding="UTF-8" standalone="yes" - >
<a:theme xmlns:a="http://schemas.openxmlformats.org/drawingml/2006/main" name="Office Theme"><a:themeElements><a:clrScheme name="Office"><a:dk1><a:sysClr val="windowText" lastClr="000000"/></a:dk1><a:lt1><a:sysClr val="window" lastClr="FFFFFF"/></a:lt1><a:dk2><a:srgbClr val="44546A"/></a:dk2><a:lt2><a:srgbClr val="E7E6E6"/></a:lt2><a:accent1><a:srgbClr val="4472C4"/></a:accent1><a:accent2><a:srgbClr val="ED7D31"/></a:accent2><a:accent3><a:srgbClr val="A5A5A5"/></a:accent3><a:accent4><a:srgbClr val="FFC000"/></a:accent4><a:accent5><a:srgbClr val="5B9BD5"/></a:accent5><a:accent6><a:srgbClr val="70AD47"/></a:accent6><a:hlink><a:srgbClr val="0563C1"/></a:hlink><a:folHlink><a:srgbClr val="954F72"/></a:folHlink></a:clrScheme><a:fontScheme name="Office"><a:majorFont><a:latin typeface="Calibri Light" panose="020F0302020204030204"/><a:ea typeface=""/><a:cs typeface=""/><a:font script="Jpan" typeface="游ゴシック Light"/><a:font script="Hang" typeface="맑은 고딕"/><a:font script="Hans" typeface="等线 Light"/><a:font script="Hant" typeface="新細明體"/><a:font script="Arab" typeface="Times New Roman"/><a:font script="Hebr" typeface="Times New Roman"/><a:font script="Thai" typeface="Angsana New"/><a:font script="Ethi" typeface="Nyala"/><a:font script="Beng" typeface="Vrinda"/><a:font script="Gujr" typeface="Shruti"/><a:font script="Khmr" typeface="MoolBoran"/><a:font script="Knda" typeface="Tunga"/><a:font script="Guru" typeface="Raavi"/><a:font script="Cans" typeface="Euphemia"/><a:font script="Cher" typeface="Plantagenet Cherokee"/><a:font script="Yiii" typeface="Microsoft Yi Baiti"/><a:font script="Tibt" typeface="Microsoft Himalaya"/><a:font script="Thaa" typeface="MV Boli"/><a:font script="Deva" typeface="Mangal"/><a:font script="Telu" typeface="Gautami"/><a:font script="Taml" typeface="Latha"/><a:font script="Syrc" typeface="Estrangelo Edessa"/><a:font script="Orya" typeface="Kalinga"/><a:font script="Mlym" typeface="Kartika"/><a:font script="Laoo" typeface="DokChampa"/><a:font script="Sinh" typeface="Iskoola Pota"/><a:font script="Mong" typeface="Mongolian Baiti"/><a:font script="Viet" typeface="Times New Roman"/><a:font script="Uigh" typeface="Microsoft Uighur"/><a:font script="Geor" typeface="Sylfaen"/><a:font script="Armn" typeface="Arial"/><a:font script="Bugi" typeface="Leelawadee UI"/><a:font script="Bopo" typeface="Microsoft JhengHei"/><a:font script="Java" typeface="Javanese Text"/><a:font script="Lisu" typeface="Segoe UI"/><a:font script="Mymr" typeface="Myanmar Text"/><a:font script="Nkoo" typeface="Ebrima"/><a:font script="Olck" typeface="Nirmala UI"/><a:font script="Osma" typeface="Ebrima"/><a:font script="Phag" typeface="Phagspa"/><a:font script="Syrn" typeface="Estrangelo Edessa"/><a:font script="Syrj" typeface="Estrangelo Edessa"/><a:font script="Syre" typeface="Estrangelo Edessa"/><a:font script="Sora" typeface="Nirmala UI"/><a:font script="Tale" typeface="Microsoft Tai Le"/><a:font script="Talu" typeface="Microsoft New Tai Lue"/><a:font script="Tfng" typeface="Ebrima"/></a:majorFont><a:minorFont><a:latin typeface="Calibri" panose="020F0502020204030204"/><a:ea typeface=""/><a:cs typeface=""/><a:font script="Jpan" typeface="游ゴシック"/><a:font script="Hang" typeface="맑은 고딕"/><a:font script="Hans" typeface="等线"/><a:font script="Hant" typeface="新細明體"/><a:font script="Arab" typeface="Arial"/><a:font script="Hebr" typeface="Arial"/><a:font script="Thai" typeface="Cordia New"/><a:font script="Ethi" typeface="Nyala"/><a:font script="Beng" typeface="Vrinda"/><a:font script="Gujr" typeface="Shruti"/><a:font script="Khmr" typeface="DaunPenh"/><a:font script="Knda" typeface="Tunga"/><a:font script="Guru" typeface="Raavi"/><a:font script="Cans" typeface="Euphemia"/><a:font script="Cher" typeface="Plantagenet Cherokee"/><a:font script="Yiii" typeface="Microsoft Yi Baiti"/><a:font script="Tibt" typeface="Microsoft Himalaya"/><a:font script="Thaa" typeface="MV Boli"/><a:font script="Deva" typeface="Mangal"/><a:font script="Telu" typeface="Gautami"/><a:font script="Taml" typeface="Latha"/><a:font script="Syrc" typeface="Estrangelo Edessa"/><a:font script="Orya" typeface="Kalinga"/><a:font script="Mlym" typeface="Kartika"/><a:font script="Laoo" typeface="DokChampa"/><a:font script="Sinh" typeface="Iskoola Pota"/><a:font script="Mong" typeface="Mongolian Baiti"/><a:font script="Viet" typeface="Arial"/><a:font script="Uigh" typeface="Microsoft Uighur"/><a:font script="Geor" typeface="Sylfaen"/><a:font script="Armn" typeface="Arial"/><a:font script="Bugi" typeface="Leelawadee UI"/><a:font script="Bopo" typeface="Microsoft JhengHei"/><a:font script="Java" typeface="Javanese Text"/><a:font script="Lisu" typeface="Segoe UI"/><a:font script="Mymr" typeface="Myanmar Text"/><a:font script="Nkoo" typeface="Ebrima"/><a:font script="Olck" typeface="Nirmala UI"/><a:font script="Osma" typeface="Ebrima"/><a:font script="Phag" typeface="Phagspa"/><a:font script="Syrn" typeface="Estrangelo Edessa"/><a:font script="Syrj" typeface="Estrangelo Edessa"/><a:font script="Syre" typeface="Estrangelo Edessa"/><a:font script="Sora" typeface="Nirmala UI"/><a:font script="Tale" typeface="Microsoft Tai Le"/><a:font script="Talu" typeface="Microsoft New Tai Lue"/><a:font script="Tfng" typeface="Ebrima"/></a:minorFont></a:fontScheme><a:fmtScheme name="Office"><a:fillStyleLst><a:solidFill><a:schemeClr val="phClr"/></a:solidFill><a:gradFill rotWithShape="1"><a:gsLst><a:gs pos="0"><a:schemeClr val="phClr"><a:lumMod val="110000"/><a:satMod val="105000"/><a:tint val="67000"/></a:schemeClr></a:gs><a:gs pos="50000"><a:schemeClr val="phClr"><a:lumMod val="105000"/><a:satMod val="103000"/><a:tint val="73000"/></a:schemeClr></a:gs><a:gs pos="100000"><a:schemeClr val="phClr"><a:lumMod val="105000"/><a:satMod val="109000"/><a:tint val="81000"/></a:schemeClr></a:gs></a:gsLst><a:lin ang="5400000" scaled="0"/></a:gradFill><a:gradFill rotWithShape="1"><a:gsLst><a:gs pos="0"><a:schemeClr val="phClr"><a:satMod val="103000"/><a:lumMod val="102000"/><a:tint val="94000"/></a:schemeClr></a:gs><a:gs pos="50000"><a:schemeClr val="phClr"><a:satMod val="110000"/><a:lumMod val="100000"/><a:shade val="100000"/></a:schemeClr></a:gs><a:gs pos="100000"><a:schemeClr val="phClr"><a:lumMod val="99000"/><a:satMod val="120000"/><a:shade val="78000"/></a:schemeClr></a:gs></a:gsLst><a:lin ang="5400000" scaled="0"/></a:gradFill></a:fillStyleLst><a:lnStyleLst><a:ln w="6350" cap="flat" cmpd="sng" algn="ctr"><a:solidFill><a:schemeClr val="phClr"/></a:solidFill><a:prstDash val="solid"/><a:miter lim="800000"/></a:ln><a:ln w="12700" cap="flat" cmpd="sng" algn="ctr"><a:solidFill><a:schemeClr val="phClr"/></a:solidFill><a:prstDash val="solid"/><a:miter lim="800000"/></a:ln><a:ln w="19050" cap="flat" cmpd="sng" algn="ctr"><a:solidFill><a:schemeClr val="phClr"/></a:solidFill><a:prstDash val="solid"/><a:miter lim="800000"/></a:ln></a:lnStyleLst><a:effectStyleLst><a:effectStyle><a:effectLst/></a:effectStyle><a:effectStyle><a:effectLst/></a:effectStyle><a:effectStyle><a:effectLst><a:outerShdw blurRad="57150" dist="19050" dir="5400000" algn="ctr" rotWithShape="0"><a:srgbClr val="000000"><a:alpha val="63000"/></a:srgbClr></a:outerShdw></a:effectLst></a:effectStyle></a:effectStyleLst><a:bgFillStyleLst><a:solidFill><a:schemeClr val="phClr"/></a:solidFill><a:solidFill><a:schemeClr val="phClr"><a:tint val="95000"/><a:satMod val="170000"/></a:schemeClr></a:solidFill><a:gradFill rotWithShape="1"><a:gsLst><a:gs pos="0"><a:schemeClr val="phClr"><a:tint val="93000"/><a:satMod val="150000"/><a:shade val="98000"/><a:lumMod val="102000"/></a:schemeClr></a:gs><a:gs pos="50000"><a:schemeClr val="phClr"><a:tint val="98000"/><a:satMod val="130000"/><a:shade val="90000"/><a:lumMod val="103000"/></a:schemeClr></a:gs><a:gs pos="100000"><a:schemeClr val="phClr"><a:shade val="63000"/><a:satMod val="120000"/></a:schemeClr></a:gs></a:gsLst><a:lin ang="5400000" scaled="0"/></a:gradFill></a:bgFillStyleLst></a:fmtScheme></a:themeElements><a:objectDefaults/><a:extraClrSchemeLst/><a:extLst><a:ext uri="{05A4C25C-085E-4340-85A3-A5531E510DB2}"><thm15:themeFamily xmlns:thm15="http://schemas.microsoft.com/office/thememl/2012/main" name="Office Theme" id="{62F939B6-93AF-4DB8-9C6B-D6C7DFDC589F}" vid="{4A3C46E8-61CC-4603-A589-7422A47A8E4A}"/></a:ext></a:extLst></a:theme>
</file>

<file path=ppt/theme/theme2.xml>< - xml version="1.0" encoding="UTF-8" standalone="yes" - >
<a:theme xmlns:a="http://schemas.openxmlformats.org/drawingml/2006/main" name="Office Theme"><a:themeElements><a:clrScheme name="Office"><a:dk1><a:sysClr val="windowText" lastClr="000000"/></a:dk1><a:lt1><a:sysClr val="window" lastClr="FFFFFF"/></a:lt1><a:dk2><a:srgbClr val="0E2841"/></a:dk2><a:lt2><a:srgbClr val="E8E8E8"/></a:lt2><a:accent1><a:srgbClr val="156082"/></a:accent1><a:accent2><a:srgbClr val="E97132"/></a:accent2><a:accent3><a:srgbClr val="196B24"/></a:accent3><a:accent4><a:srgbClr val="0F9ED5"/></a:accent4><a:accent5><a:srgbClr val="A02B93"/></a:accent5><a:accent6><a:srgbClr val="4EA72E"/></a:accent6><a:hlink><a:srgbClr val="467886"/></a:hlink><a:folHlink><a:srgbClr val="96607D"/></a:folHlink></a:clrScheme><a:fontScheme name="Office"><a:majorFont><a:latin typeface="Aptos Display" panose="02110004020202020204"/><a:ea typeface=""/><a:cs typeface=""/><a:font script="Jpan" typeface="游ゴシック Light"/><a:font script="Hang" typeface="맑은 고딕"/><a:font script="Hans" typeface="等线 Light"/><a:font script="Hant" typeface="新細明體"/><a:font script="Arab" typeface="Times New Roman"/><a:font script="Hebr" typeface="Times New Roman"/><a:font script="Thai" typeface="Angsana New"/><a:font script="Ethi" typeface="Nyala"/><a:font script="Beng" typeface="Vrinda"/><a:font script="Gujr" typeface="Shruti"/><a:font script="Khmr" typeface="MoolBoran"/><a:font script="Knda" typeface="Tunga"/><a:font script="Guru" typeface="Raavi"/><a:font script="Cans" typeface="Euphemia"/><a:font script="Cher" typeface="Plantagenet Cherokee"/><a:font script="Yiii" typeface="Microsoft Yi Baiti"/><a:font script="Tibt" typeface="Microsoft Himalaya"/><a:font script="Thaa" typeface="MV Boli"/><a:font script="Deva" typeface="Mangal"/><a:font script="Telu" typeface="Gautami"/><a:font script="Taml" typeface="Latha"/><a:font script="Syrc" typeface="Estrangelo Edessa"/><a:font script="Orya" typeface="Kalinga"/><a:font script="Mlym" typeface="Kartika"/><a:font script="Laoo" typeface="DokChampa"/><a:font script="Sinh" typeface="Iskoola Pota"/><a:font script="Mong" typeface="Mongolian Baiti"/><a:font script="Viet" typeface="Times New Roman"/><a:font script="Uigh" typeface="Microsoft Uighur"/><a:font script="Geor" typeface="Sylfaen"/><a:font script="Armn" typeface="Arial"/><a:font script="Bugi" typeface="Leelawadee UI"/><a:font script="Bopo" typeface="Microsoft JhengHei"/><a:font script="Java" typeface="Javanese Text"/><a:font script="Lisu" typeface="Segoe UI"/><a:font script="Mymr" typeface="Myanmar Text"/><a:font script="Nkoo" typeface="Ebrima"/><a:font script="Olck" typeface="Nirmala UI"/><a:font script="Osma" typeface="Ebrima"/><a:font script="Phag" typeface="Phagspa"/><a:font script="Syrn" typeface="Estrangelo Edessa"/><a:font script="Syrj" typeface="Estrangelo Edessa"/><a:font script="Syre" typeface="Estrangelo Edessa"/><a:font script="Sora" typeface="Nirmala UI"/><a:font script="Tale" typeface="Microsoft Tai Le"/><a:font script="Talu" typeface="Microsoft New Tai Lue"/><a:font script="Tfng" typeface="Ebrima"/></a:majorFont><a:minorFont><a:latin typeface="Aptos" panose="02110004020202020204"/><a:ea typeface=""/><a:cs typeface=""/><a:font script="Jpan" typeface="游ゴシック"/><a:font script="Hang" typeface="맑은 고딕"/><a:font script="Hans" typeface="等线"/><a:font script="Hant" typeface="新細明體"/><a:font script="Arab" typeface="Arial"/><a:font script="Hebr" typeface="Arial"/><a:font script="Thai" typeface="Cordia New"/><a:font script="Ethi" typeface="Nyala"/><a:font script="Beng" typeface="Vrinda"/><a:font script="Gujr" typeface="Shruti"/><a:font script="Khmr" typeface="DaunPenh"/><a:font script="Knda" typeface="Tunga"/><a:font script="Guru" typeface="Raavi"/><a:font script="Cans" typeface="Euphemia"/><a:font script="Cher" typeface="Plantagenet Cherokee"/><a:font script="Yiii" typeface="Microsoft Yi Baiti"/><a:font script="Tibt" typeface="Microsoft Himalaya"/><a:font script="Thaa" typeface="MV Boli"/><a:font script="Deva" typeface="Mangal"/><a:font script="Telu" typeface="Gautami"/><a:font script="Taml" typeface="Latha"/><a:font script="Syrc" typeface="Estrangelo Edessa"/><a:font script="Orya" typeface="Kalinga"/><a:font script="Mlym" typeface="Kartika"/><a:font script="Laoo" typeface="DokChampa"/><a:font script="Sinh" typeface="Iskoola Pota"/><a:font script="Mong" typeface="Mongolian Baiti"/><a:font script="Viet" typeface="Arial"/><a:font script="Uigh" typeface="Microsoft Uighur"/><a:font script="Geor" typeface="Sylfaen"/><a:font script="Armn" typeface="Arial"/><a:font script="Bugi" typeface="Leelawadee UI"/><a:font script="Bopo" typeface="Microsoft JhengHei"/><a:font script="Java" typeface="Javanese Text"/><a:font script="Lisu" typeface="Segoe UI"/><a:font script="Mymr" typeface="Myanmar Text"/><a:font script="Nkoo" typeface="Ebrima"/><a:font script="Olck" typeface="Nirmala UI"/><a:font script="Osma" typeface="Ebrima"/><a:font script="Phag" typeface="Phagspa"/><a:font script="Syrn" typeface="Estrangelo Edessa"/><a:font script="Syrj" typeface="Estrangelo Edessa"/><a:font script="Syre" typeface="Estrangelo Edessa"/><a:font script="Sora" typeface="Nirmala UI"/><a:font script="Tale" typeface="Microsoft Tai Le"/><a:font script="Talu" typeface="Microsoft New Tai Lue"/><a:font script="Tfng" typeface="Ebrima"/></a:minorFont></a:fontScheme><a:fmtScheme name="Office"><a:fillStyleLst><a:solidFill><a:schemeClr val="phClr"/></a:solidFill><a:gradFill rotWithShape="1"><a:gsLst><a:gs pos="0"><a:schemeClr val="phClr"><a:lumMod val="110000"/><a:satMod val="105000"/><a:tint val="67000"/></a:schemeClr></a:gs><a:gs pos="50000"><a:schemeClr val="phClr"><a:lumMod val="105000"/><a:satMod val="103000"/><a:tint val="73000"/></a:schemeClr></a:gs><a:gs pos="100000"><a:schemeClr val="phClr"><a:lumMod val="105000"/><a:satMod val="109000"/><a:tint val="81000"/></a:schemeClr></a:gs></a:gsLst><a:lin ang="5400000" scaled="0"/></a:gradFill><a:gradFill rotWithShape="1"><a:gsLst><a:gs pos="0"><a:schemeClr val="phClr"><a:satMod val="103000"/><a:lumMod val="102000"/><a:tint val="94000"/></a:schemeClr></a:gs><a:gs pos="50000"><a:schemeClr val="phClr"><a:satMod val="110000"/><a:lumMod val="100000"/><a:shade val="100000"/></a:schemeClr></a:gs><a:gs pos="100000"><a:schemeClr val="phClr"><a:lumMod val="99000"/><a:satMod val="120000"/><a:shade val="78000"/></a:schemeClr></a:gs></a:gsLst><a:lin ang="5400000" scaled="0"/></a:gradFill></a:fillStyleLst><a:lnStyleLst><a:ln w="12700" cap="flat" cmpd="sng" algn="ctr"><a:solidFill><a:schemeClr val="phClr"/></a:solidFill><a:prstDash val="solid"/><a:miter lim="800000"/></a:ln><a:ln w="19050" cap="flat" cmpd="sng" algn="ctr"><a:solidFill><a:schemeClr val="phClr"/></a:solidFill><a:prstDash val="solid"/><a:miter lim="800000"/></a:ln><a:ln w="25400" cap="flat" cmpd="sng" algn="ctr"><a:solidFill><a:schemeClr val="phClr"/></a:solidFill><a:prstDash val="solid"/><a:miter lim="800000"/></a:ln></a:lnStyleLst><a:effectStyleLst><a:effectStyle><a:effectLst/></a:effectStyle><a:effectStyle><a:effectLst/></a:effectStyle><a:effectStyle><a:effectLst><a:outerShdw blurRad="57150" dist="19050" dir="5400000" algn="ctr" rotWithShape="0"><a:srgbClr val="000000"><a:alpha val="63000"/></a:srgbClr></a:outerShdw></a:effectLst></a:effectStyle></a:effectStyleLst><a:bgFillStyleLst><a:solidFill><a:schemeClr val="phClr"/></a:solidFill><a:solidFill><a:schemeClr val="phClr"><a:tint val="95000"/><a:satMod val="170000"/></a:schemeClr></a:solidFill><a:gradFill rotWithShape="1"><a:gsLst><a:gs pos="0"><a:schemeClr val="phClr"><a:tint val="93000"/><a:satMod val="150000"/><a:shade val="98000"/><a:lumMod val="102000"/></a:schemeClr></a:gs><a:gs pos="50000"><a:schemeClr val="phClr"><a:tint val="98000"/><a:satMod val="130000"/><a:shade val="90000"/><a:lumMod val="103000"/></a:schemeClr></a:gs><a:gs pos="100000"><a:schemeClr val="phClr"><a:shade val="63000"/><a:satMod val="120000"/></a:schemeClr></a:gs></a:gsLst><a:lin ang="5400000" scaled="0"/></a:gradFill></a:bgFillStyleLst></a:fmtScheme></a:themeElements><a:objectDefaults><a:lnDef><a:spPr/><a:bodyPr/><a:lstStyle/><a:style><a:lnRef idx="2"><a:schemeClr val="accent1"/></a:lnRef><a:fillRef idx="0"><a:schemeClr val="accent1"/></a:fillRef><a:effectRef idx="1"><a:schemeClr val="accent1"/></a:effectRef><a:fontRef idx="minor"><a:schemeClr val="tx1"/></a:fontRef></a:style></a:lnDef></a:objectDefaults><a:extraClrSchemeLst/><a:extLst><a:ext uri="{05A4C25C-085E-4340-85A3-A5531E510DB2}"><thm15:themeFamily xmlns:thm15="http://schemas.microsoft.com/office/thememl/2012/main" name="Office Theme" id="{2E142A2C-CD16-42D6-873A-C26D2A0506FA}" vid="{1BDDFF52-6CD6-40A5-AB3C-68EB2F1E4D0A}"/></a:ext></a:extLst></a:theme>
</file>

<file path=docProps/app.xml>< - xml version="1.0" encoding="UTF-8" standalone="yes" - >
<Properties xmlns="http://schemas.openxmlformats.org/officeDocument/2006/extended-properties" xmlns:vt="http://schemas.openxmlformats.org/officeDocument/2006/docPropsVTypes"><TotalTime>220</TotalTime><Words>2115</Words><Application>Microsoft Office PowerPoint</Application><PresentationFormat>Custom</PresentationFormat><Paragraphs>214</Paragraphs><Slides>19</Slides><Notes>18</Notes><HiddenSlides>0</HiddenSlides><MMClips>0</MMClips><ScaleCrop>false</ScaleCrop><HeadingPairs><vt:vector size="6" baseType="variant"><vt:variant><vt:lpstr>Fonts Used</vt:lpstr></vt:variant><vt:variant><vt:i4>5</vt:i4></vt:variant><vt:variant><vt:lpstr>Theme</vt:lpstr></vt:variant><vt:variant><vt:i4>1</vt:i4></vt:variant><vt:variant><vt:lpstr>Slide Titles</vt:lpstr></vt:variant><vt:variant><vt:i4>19</vt:i4></vt:variant></vt:vector></HeadingPairs><TitlesOfParts><vt:vector size="25" baseType="lpstr"><vt:lpstr>Roboto Light</vt:lpstr><vt:lpstr>Arial</vt:lpstr><vt:lpstr>Consolas</vt:lpstr><vt:lpstr>Open Sans</vt:lpstr><vt:lpstr>Roboto</vt:lpstr><vt:lpstr>Office Theme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vt:lpstr>PowerPoint Presentation</vt:lpstr></vt:vector></TitlesOfParts><Company></Company><LinksUpToDate>false</LinksUpToDate><SharedDoc>false</SharedDoc><HyperlinksChanged>false</HyperlinksChanged><AppVersion>16.0000</AppVersion></Properties>
</file>

<file path=docProps/core.xml>< - xml version="1.0" encoding="UTF-8" standalone="yes" - >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<dc:title></dc:title><dc:subject></dc:subject><dc:creator></dc:creator><cp:lastModifiedBy>Aum Bimalbhai Gajjar</cp:lastModifiedBy><cp:revision>48</cp:revision><dcterms:created xsi:type="dcterms:W3CDTF">2026-04-07T22:56:35Z</dcterms:created><dcterms:modified xsi:type="dcterms:W3CDTF">2026-04-08T02:39:29Z</dcterms:modified></cp:coreProperties>
</file>